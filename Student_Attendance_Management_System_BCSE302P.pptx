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ENTERPRISE ARCHITECTURE SHOWCASE   |   FULL-STACK NoSQL PLATFORM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</a:defRPr>
            </a:pPr>
            <a:r>
              <a:t>Student Attendance Management System</a:t>
            </a:r>
          </a:p>
          <a:p>
            <a:pPr>
              <a:defRPr sz="1500">
                <a:solidFill>
                  <a:srgbClr val="60A5FA"/>
                </a:solidFill>
              </a:defRPr>
            </a:pPr>
            <a:r>
              <a:t>A High-Throughput, Document-Oriented NoSQL Platform for Real-Time Academic Tracking &amp; Institutional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10362895" cy="128016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98142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CORE VALUE PROPOSITION &amp; ARCHITECTURAL DIRECTIVE:</a:t>
            </a:r>
          </a:p>
          <a:p>
            <a:pPr>
              <a:defRPr sz="1250" i="1">
                <a:solidFill>
                  <a:srgbClr val="F1F5F9"/>
                </a:solidFill>
              </a:defRPr>
            </a:pPr>
            <a:r>
              <a:t>"Transforming fragmented academic record-keeping into a high-concurrency, auditable, and low-latency analytics platform powered by MongoDB, atomic bulk operations, and real-time aggregation pipelines."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2542032" cy="123444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8BDF8"/>
                </a:solidFill>
              </a:defRPr>
            </a:pPr>
            <a:r>
              <a:t>ARCHITECTURE LEAD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Abhishek 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892040"/>
            <a:ext cx="2542032" cy="123444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5029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34D399"/>
                </a:solidFill>
              </a:defRPr>
            </a:pPr>
            <a:r>
              <a:t>ANALYTICS &amp; TEST LEAD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Ayush Naugariya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892040"/>
            <a:ext cx="2542032" cy="123444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5029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BBF24"/>
                </a:solidFill>
              </a:defRPr>
            </a:pPr>
            <a:r>
              <a:t>PERSISTENCE ENGINE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MongoDB 7.x WiredTiger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892040"/>
            <a:ext cx="2542032" cy="1234440"/>
          </a:xfrm>
          <a:prstGeom prst="roundRect">
            <a:avLst>
              <a:gd name="adj" fmla="val 8000"/>
            </a:avLst>
          </a:prstGeom>
          <a:solidFill>
            <a:srgbClr val="151E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5029200"/>
            <a:ext cx="21762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A855F7"/>
                </a:solidFill>
              </a:defRPr>
            </a:pPr>
            <a:r>
              <a:t>APPLICATION RUNTIME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Node.js 20 &amp; React 18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PROBLEM ANALYSIS &amp; SOLUTION SCOPE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Domain Bottlenecks &amp; Strategic System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OPERATIONAL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02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43F5E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The Legacy Operational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47088"/>
            <a:ext cx="4700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F43F5E"/>
                </a:solidFill>
              </a:rPr>
              <a:t>- Manual Ingestion Latency &amp; Human Error: </a:t>
            </a:r>
            <a:r>
              <a:rPr sz="1100">
                <a:solidFill>
                  <a:srgbClr val="CBD5E1"/>
                </a:solidFill>
              </a:rPr>
              <a:t>Traditional attendance relies on physical registers or detached spreadsheets, leading to data loss, transcript errors, and multi-day delays.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43F5E"/>
                </a:solidFill>
              </a:rPr>
              <a:t>- Burst Concurrency Bottlenecks: </a:t>
            </a:r>
            <a:r>
              <a:rPr sz="1100">
                <a:solidFill>
                  <a:srgbClr val="CBD5E1"/>
                </a:solidFill>
              </a:rPr>
              <a:t>Campus class transitions force hundreds of instructors to submit records within a 10-minute window, causing severe lock contention in traditional RDBMS.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43F5E"/>
                </a:solidFill>
              </a:rPr>
              <a:t>- Delayed Regulatory Interventions: </a:t>
            </a:r>
            <a:r>
              <a:rPr sz="1100">
                <a:solidFill>
                  <a:srgbClr val="CBD5E1"/>
                </a:solidFill>
              </a:rPr>
              <a:t>Mandatory 75% attendance thresholds cannot be enforced proactively when attendance records take weeks to manually audit and compile.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F43F5E"/>
                </a:solidFill>
              </a:rPr>
              <a:t>- Absence of Audit Governance: </a:t>
            </a:r>
            <a:r>
              <a:rPr sz="1100">
                <a:solidFill>
                  <a:srgbClr val="CBD5E1"/>
                </a:solidFill>
              </a:rPr>
              <a:t>Legacy spreadsheets lack cryptographic tampering prevention, granular Role-Based Access Control (RBAC), and reliable submission audit trails.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Strategic Engineering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47088"/>
            <a:ext cx="4700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34D399"/>
                </a:solidFill>
              </a:rPr>
              <a:t>- Sub-15ms Ingestion Latency: </a:t>
            </a:r>
            <a:r>
              <a:rPr sz="1100">
                <a:solidFill>
                  <a:srgbClr val="CBD5E1"/>
                </a:solidFill>
              </a:rPr>
              <a:t>Enable instantaneous, single-click attendance recording for entire cohorts (60+ students per batch) via atomic database batch operations.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34D399"/>
                </a:solidFill>
              </a:rPr>
              <a:t>- 100% Idempotent Submissions: </a:t>
            </a:r>
            <a:r>
              <a:rPr sz="1100">
                <a:solidFill>
                  <a:srgbClr val="CBD5E1"/>
                </a:solidFill>
              </a:rPr>
              <a:t>Guarantee that re-submitting or correcting attendance updates records in-place without generating duplicate entries, ensuring complete data integrity.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34D399"/>
                </a:solidFill>
              </a:rPr>
              <a:t>- Live In-Engine Analytics: </a:t>
            </a:r>
            <a:r>
              <a:rPr sz="1100">
                <a:solidFill>
                  <a:srgbClr val="CBD5E1"/>
                </a:solidFill>
              </a:rPr>
              <a:t>Provide academic deans and instructors with real-time institutional intelligence (defaulter lists, course health, daily trends) calculated directly in database memory.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34D399"/>
                </a:solidFill>
              </a:rPr>
              <a:t>- Enterprise Cryptographic Security: </a:t>
            </a:r>
            <a:r>
              <a:rPr sz="1100">
                <a:solidFill>
                  <a:srgbClr val="CBD5E1"/>
                </a:solidFill>
              </a:rPr>
              <a:t>Enforce stateless JSON Web Token (JWT) authentication, 10-round Bcrypt password hashing, and strict 3-tier Role-Based Access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3413455" cy="658368"/>
          </a:xfrm>
          <a:prstGeom prst="roundRect">
            <a:avLst>
              <a:gd name="adj" fmla="val 15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304769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8BDF8"/>
                </a:solidFill>
              </a:defRPr>
            </a:pPr>
            <a:r>
              <a:t>&lt; 15 ms</a:t>
            </a:r>
          </a:p>
          <a:p>
            <a:pPr>
              <a:defRPr sz="850" b="1">
                <a:solidFill>
                  <a:srgbClr val="94A3B8"/>
                </a:solidFill>
              </a:defRPr>
            </a:pPr>
            <a:r>
              <a:t>WRITE INGESTION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623560"/>
            <a:ext cx="3413455" cy="658368"/>
          </a:xfrm>
          <a:prstGeom prst="roundRect">
            <a:avLst>
              <a:gd name="adj" fmla="val 15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5669280"/>
            <a:ext cx="304769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34D399"/>
                </a:solidFill>
              </a:defRPr>
            </a:pPr>
            <a:r>
              <a:t>100%</a:t>
            </a:r>
          </a:p>
          <a:p>
            <a:pPr>
              <a:defRPr sz="850" b="1">
                <a:solidFill>
                  <a:srgbClr val="94A3B8"/>
                </a:solidFill>
              </a:defRPr>
            </a:pPr>
            <a:r>
              <a:t>IDEMPOTENT &amp; ZERO DUPLICATES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623560"/>
            <a:ext cx="3413455" cy="658368"/>
          </a:xfrm>
          <a:prstGeom prst="roundRect">
            <a:avLst>
              <a:gd name="adj" fmla="val 15000"/>
            </a:avLst>
          </a:prstGeom>
          <a:solidFill>
            <a:srgbClr val="151E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669280"/>
            <a:ext cx="304769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FBBF24"/>
                </a:solidFill>
              </a:defRPr>
            </a:pPr>
            <a:r>
              <a:t>REAL-TIME</a:t>
            </a:r>
          </a:p>
          <a:p>
            <a:pPr>
              <a:defRPr sz="850" b="1">
                <a:solidFill>
                  <a:srgbClr val="94A3B8"/>
                </a:solidFill>
              </a:defRPr>
            </a:pPr>
            <a:r>
              <a:t>DEFAULTER &amp; TREND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ARCHITECTURE &amp; TECHNOLOGY JUSTIFICATION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NoSQL Database Selection &amp; 3-Tier Layered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TIERED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03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13455" cy="246888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29013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Tier 1: 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React 18 SPA + Vite + Tailwind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Single Page Application with instant client-side routing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Axios interceptor pipeline attaching JWT bearer tokens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Responsive attendance matrix and Chart.js dashboards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State management via React Context avoiding prop-drilling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13455" cy="246888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54480"/>
            <a:ext cx="29013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0A5FA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Tier 2: Application 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83080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0A5FA"/>
                </a:solidFill>
              </a:defRPr>
            </a:pPr>
            <a:r>
              <a:t>Node.js 20 LTS + Express.js 4.x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Stateless RESTful API gateway on port 5000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Cryptographic JWT signature verification middleware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Role-Based Access Control (Admin, Faculty, Student)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Mongoose ODM schema validation and atomic batch compiler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13455" cy="246888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54480"/>
            <a:ext cx="29013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Tier 3: Persistence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783080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MongoDB 7.x Community Server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WiredTiger high-concurrency document storage engine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Compound B-Tree index traversal with Snappy compression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Native multi-stage aggregation pipelines in database RAM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</a:defRPr>
            </a:pPr>
            <a:r>
              <a:t>- Document-level write locking eliminating table contention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10728655" cy="233172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160519"/>
            <a:ext cx="102165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BBF24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Technical Justification: Why MongoDB over Relational RDBMS?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407408"/>
            <a:ext cx="10241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BBF24"/>
                </a:solidFill>
              </a:rPr>
              <a:t>- Zero Object-Relational Impedance Mismatch: </a:t>
            </a:r>
            <a:r>
              <a:rPr sz="1050">
                <a:solidFill>
                  <a:srgbClr val="CBD5E1"/>
                </a:solidFill>
              </a:rPr>
              <a:t>In full-stack JavaScript architectures, data naturally exists as JSON trees. Relational databases force developers to decompose objects across normalized tables and reconstruct them via expensive multi-table SQL joins. MongoDB natively stores and returns BSON/JSON, eliminating mapping overhead.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BBF24"/>
                </a:solidFill>
              </a:rPr>
              <a:t>- Document-Level Concurrency for Write-Heavy Bursts: </a:t>
            </a:r>
            <a:r>
              <a:rPr sz="1050">
                <a:solidFill>
                  <a:srgbClr val="CBD5E1"/>
                </a:solidFill>
              </a:rPr>
              <a:t>Academic attendance creates severe write spikes at class changeovers. Traditional RDBMS table or page locks create major queue delays. MongoDB's WiredTiger storage engine utilizes document-level locking, ensuring that concurrent submissions across different classes never block each other.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BBF24"/>
                </a:solidFill>
              </a:rPr>
              <a:t>- Declarative In-Engine Multi-Stage Aggregations: </a:t>
            </a:r>
            <a:r>
              <a:rPr sz="1050">
                <a:solidFill>
                  <a:srgbClr val="CBD5E1"/>
                </a:solidFill>
              </a:rPr>
              <a:t>Computing institutional metrics (e.g., student attendance percentage, defaulter warnings, monthly trends) in SQL requires complex nested subqueries. MongoDB's aggregation pipeline processes data as a clean stream executed directly in database RAM with zero ETL delay.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ENGINEERING &amp; SCHEMA DESIGN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Relational Modeling in NoSQL: Data Modeling &amp; Schemas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SCHEMA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04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The 6 Core Production Collections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users Collection: </a:t>
            </a:r>
            <a:r>
              <a:rPr sz="1050">
                <a:solidFill>
                  <a:srgbClr val="CBD5E1"/>
                </a:solidFill>
              </a:rPr>
              <a:t>name, email (unique), password (Bcrypt 10-round hash), role ('admin' | 'faculty' | 'student'), createdAt. Handles identity, authentication, and RBAC enforcement.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students Collection: </a:t>
            </a:r>
            <a:r>
              <a:rPr sz="1050">
                <a:solidFill>
                  <a:srgbClr val="CBD5E1"/>
                </a:solidFill>
              </a:rPr>
              <a:t>regNo (unique), name, email, department, year, section ('D1' | 'D2'), semester. Indexed on { department: 1, section: 1 } for fast cohort retrieval.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faculties Collection: </a:t>
            </a:r>
            <a:r>
              <a:rPr sz="1050">
                <a:solidFill>
                  <a:srgbClr val="CBD5E1"/>
                </a:solidFill>
              </a:rPr>
              <a:t>facultyId (unique), name, email, department. Manages academic instructor profiles and departmental course linkages.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subjects Collection: </a:t>
            </a:r>
            <a:r>
              <a:rPr sz="1050">
                <a:solidFill>
                  <a:srgbClr val="CBD5E1"/>
                </a:solidFill>
              </a:rPr>
              <a:t>subjectCode (unique), subjectName, facultyId (ref: Faculty), semester, credits. Defines curriculum catalog and faculty instructor assignment.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classes Collection: </a:t>
            </a:r>
            <a:r>
              <a:rPr sz="1050">
                <a:solidFill>
                  <a:srgbClr val="CBD5E1"/>
                </a:solidFill>
              </a:rPr>
              <a:t>subjectId (ref: Subject), facultyId (ref: Faculty), date, startTime, endTime, room. Manages lecture timetable scheduling.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attendances Collection: </a:t>
            </a:r>
            <a:r>
              <a:rPr sz="1050">
                <a:solidFill>
                  <a:srgbClr val="CBD5E1"/>
                </a:solidFill>
              </a:rPr>
              <a:t>classId (ref: Class), studentId (ref: Student), subjectId (ref: Subject), date, status ('Present' | 'Absent'), markedBy (ref: User). Compound indexed.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BBF24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Design Pattern: Referencing vs. 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BBF24"/>
                </a:solidFill>
              </a:defRPr>
            </a:pPr>
            <a:r>
              <a:t>MATHEMATICAL PROOF: AVOIDING THE 16MB BSON LIMIT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FFFFF"/>
                </a:solidFill>
              </a:rPr>
              <a:t>- The 16MB Document Boundary: </a:t>
            </a:r>
            <a:r>
              <a:rPr sz="1050">
                <a:solidFill>
                  <a:srgbClr val="CBD5E1"/>
                </a:solidFill>
              </a:rPr>
              <a:t>MongoDB enforces a strict hard ceiling of 16 Megabytes per individual document. Embedding attendance records inside the student document creates an unbounded array problem.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FFFFF"/>
                </a:solidFill>
              </a:rPr>
              <a:t>- Growth Over Time: </a:t>
            </a:r>
            <a:r>
              <a:rPr sz="1050">
                <a:solidFill>
                  <a:srgbClr val="CBD5E1"/>
                </a:solidFill>
              </a:rPr>
              <a:t>A 4-year degree consists of 8 semesters x 6 subjects = 48 subjects. With ~45 sessions per subject, each student accumulates over 2,160 attendance events. Each event with metadata consumes ~250 bytes.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FFFFF"/>
                </a:solidFill>
              </a:rPr>
              <a:t>- Document Relocation on Disk: </a:t>
            </a:r>
            <a:r>
              <a:rPr sz="1050">
                <a:solidFill>
                  <a:srgbClr val="CBD5E1"/>
                </a:solidFill>
              </a:rPr>
              <a:t>In WiredTiger, continuously growing embedded arrays cause documents to exceed their pre-allocated disk space, triggering expensive document relocations, severe storage fragmentation, and memory bloat.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FFFFF"/>
                </a:solidFill>
              </a:rPr>
              <a:t>- The Normalized Referencing Solution: </a:t>
            </a:r>
            <a:r>
              <a:rPr sz="1050">
                <a:solidFill>
                  <a:srgbClr val="CBD5E1"/>
                </a:solidFill>
              </a:rPr>
              <a:t>Storing attendance as individual documents linked via 12-byte ObjectId foreign keys keeps documents lightweight (~150 bytes), guarantees linear disk allocation, and enables horizontal scaling over decades of historical records.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FFFFF"/>
                </a:solidFill>
              </a:rPr>
              <a:t>- Multi-Dimensional Query Efficiency: </a:t>
            </a:r>
            <a:r>
              <a:rPr sz="1050">
                <a:solidFill>
                  <a:srgbClr val="CBD5E1"/>
                </a:solidFill>
              </a:rPr>
              <a:t>Normalized records allow instant queries like 'all students absent for Subject X on Date Y' using B-Tree indexes, avoiding expensive collection-wide nested array scans.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BACKEND ENGINEERING &amp; DATA ACCESS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Data Access Layer, Ingestion Pipelines &amp; End-to-End CRUD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CRUD &amp;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05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Full-Stack RESTful CRUD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CREATE Operations (POST): </a:t>
            </a:r>
            <a:r>
              <a:rPr sz="1050">
                <a:solidFill>
                  <a:srgbClr val="CBD5E1"/>
                </a:solidFill>
              </a:rPr>
              <a:t>High-throughput creation of lecture sessions and atomic bulk upserts for attendance via POST /api/attendance. Automatically normalizes incoming timestamps to UTC midnight (00:00:00.000Z).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READ Operations (GET): </a:t>
            </a:r>
            <a:r>
              <a:rPr sz="1050">
                <a:solidFill>
                  <a:srgbClr val="CBD5E1"/>
                </a:solidFill>
              </a:rPr>
              <a:t>Multi-parameter query filtering on GET /api/attendance across studentId, subjectId, date ranges ($gte/$lte), and status. Implements cursor limit safeguards and Mongoose .populate() for relational joins.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UPDATE Operations (PUT): </a:t>
            </a:r>
            <a:r>
              <a:rPr sz="1050">
                <a:solidFill>
                  <a:srgbClr val="CBD5E1"/>
                </a:solidFill>
              </a:rPr>
              <a:t>Instant in-place attendance status updates via PUT /api/attendance/:id and atomic subject/faculty modifications with full validation error propagation.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DELETE Operations (DELETE): </a:t>
            </a:r>
            <a:r>
              <a:rPr sz="1050">
                <a:solidFill>
                  <a:srgbClr val="CBD5E1"/>
                </a:solidFill>
              </a:rPr>
              <a:t>Referential cleanup for canceled class sessions and invalid attendance logs via DELETE /api/attendance/:id, returning confirmation status payloads.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Schema Validation via Mongoose ODM: </a:t>
            </a:r>
            <a:r>
              <a:rPr sz="1050">
                <a:solidFill>
                  <a:srgbClr val="CBD5E1"/>
                </a:solidFill>
              </a:rPr>
              <a:t>Enforces required field checks, email format validation, ObjectId casting, and strict enums (status: ['Present', 'Absent']). Rejects unvalidated payload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Automated Data Ingestion &amp; Scale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100">
                <a:solidFill>
                  <a:srgbClr val="34D399"/>
                </a:solidFill>
              </a:rPr>
              <a:t>- Automated Ingestion Script (seed.js): </a:t>
            </a:r>
            <a:r>
              <a:rPr sz="1050">
                <a:solidFill>
                  <a:srgbClr val="CBD5E1"/>
                </a:solidFill>
              </a:rPr>
              <a:t>Engineered an automated data generator that connects directly to MongoDB, purges stale collections, provisions Bcrypt-hashed credentials, and populates 60 students and 5 academic subjects.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4D399"/>
                </a:solidFill>
              </a:rPr>
              <a:t>- 2,640+ Realistic Primary Seed Records: </a:t>
            </a:r>
            <a:r>
              <a:rPr sz="1050">
                <a:solidFill>
                  <a:srgbClr val="CBD5E1"/>
                </a:solidFill>
              </a:rPr>
              <a:t>Generates 25 consecutive instructional days of attendance across all enrolled subjects, delivering over 2,640 primary documents - far exceeding baseline prototype volumes.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4D399"/>
                </a:solidFill>
              </a:rPr>
              <a:t>- Realistic Behavioral Cohorts: </a:t>
            </a:r>
            <a:r>
              <a:rPr sz="1050">
                <a:solidFill>
                  <a:srgbClr val="CBD5E1"/>
                </a:solidFill>
              </a:rPr>
              <a:t>Models genuine human attendance patterns: Top Attendees (90-95%), Average Cohorts (75-88%), and Chronic Defaulters (62-70%), ensuring analytical queries return real, actionable outliers.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4D399"/>
                </a:solidFill>
              </a:rPr>
              <a:t>- 52,000+ Scalability Stress Dataset: </a:t>
            </a:r>
            <a:r>
              <a:rPr sz="1050">
                <a:solidFill>
                  <a:srgbClr val="CBD5E1"/>
                </a:solidFill>
              </a:rPr>
              <a:t>Constructed an extended stress-testing script generating 52,000+ attendance records to empirically measure index selectivity, memory cache consumption, and execution plan transitions.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4D399"/>
                </a:solidFill>
              </a:rPr>
              <a:t>- Strict UTC Date Normalization: </a:t>
            </a:r>
            <a:r>
              <a:rPr sz="1050">
                <a:solidFill>
                  <a:srgbClr val="CBD5E1"/>
                </a:solidFill>
              </a:rPr>
              <a:t>All dates normalized via Date.UTC() at ingestion, guaranteeing consistent multi-timezone filtering and zero date-drift bugs during daily aggregation grouping.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HIGH-PERFORMANCE DATABASE ENGINEERING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Atomic Bulk Operations &amp; B-Tree Index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PERFORMANCE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06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Atomic bulkWrite() Batch Upsert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38BDF8"/>
                </a:solidFill>
              </a:rPr>
              <a:t>- The Loop of save() Anti-Pattern: </a:t>
            </a:r>
            <a:r>
              <a:rPr sz="1050">
                <a:solidFill>
                  <a:srgbClr val="CBD5E1"/>
                </a:solidFill>
              </a:rPr>
              <a:t>Sequential execution of 60 individual save() calls sends 60 separate TCP packets over the wire, consuming ~1,500ms and starving the Node.js libuv threadpool and MongoDB connection pool.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8BDF8"/>
                </a:solidFill>
              </a:rPr>
              <a:t>- The bulkWrite() Architecture: </a:t>
            </a:r>
            <a:r>
              <a:rPr sz="1050">
                <a:solidFill>
                  <a:srgbClr val="CBD5E1"/>
                </a:solidFill>
              </a:rPr>
              <a:t>Compiles all 60 student status updates into a single atomic array of updateOne operations sent in one TCP wire protocol packet: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8BDF8"/>
                </a:solidFill>
              </a:rPr>
              <a:t>- Production Code Implementation: </a:t>
            </a:r>
            <a:r>
              <a:rPr sz="950">
                <a:solidFill>
                  <a:srgbClr val="FBBF24"/>
                </a:solidFill>
              </a:rPr>
              <a:t>Attendance.bulkWrite(records.map(r =&gt; ({
  updateOne: {
    filter: { studentId: r.studentId, subjectId: r.subjectId, date: normalizedDate },
    update: { $set: { status: r.status, classId: r.classId, markedBy: req.user.id } },
    upsert: true
  }
})))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8BDF8"/>
                </a:solidFill>
              </a:rPr>
              <a:t>- Sub-12ms Execution Latency: </a:t>
            </a:r>
            <a:r>
              <a:rPr sz="1050">
                <a:solidFill>
                  <a:srgbClr val="CBD5E1"/>
                </a:solidFill>
              </a:rPr>
              <a:t>Reduces execution time from 1,500ms to &lt; 12ms (over 125x faster), releasing database locks almost instantaneously.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8BDF8"/>
                </a:solidFill>
              </a:rPr>
              <a:t>- Idempotency &amp; Duplicate Prevention: </a:t>
            </a:r>
            <a:r>
              <a:rPr sz="1050">
                <a:solidFill>
                  <a:srgbClr val="CBD5E1"/>
                </a:solidFill>
              </a:rPr>
              <a:t>The { upsert: true } flag combined with the composite filter guarantees that multiple clicks by an instructor update existing records rather than creating duplicate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Compound Indexing &amp; 50,000-Doc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7000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4D399"/>
                </a:solidFill>
              </a:defRPr>
            </a:pPr>
            <a:r>
              <a:t>THE ESR (EQUALITY, SORT, RANGE) RULE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Our primary compound index { studentId: 1, subjectId: 1, date: 1 } strictly adheres to the ESR rule: exact matches (studentId, subjectId) come first, followed by Range filters (date), ensuring optimal B-Tree branch traversal.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2971800"/>
            <a:ext cx="2148840" cy="777240"/>
          </a:xfrm>
          <a:prstGeom prst="roundRect">
            <a:avLst>
              <a:gd name="adj" fmla="val 10000"/>
            </a:avLst>
          </a:prstGeom>
          <a:solidFill>
            <a:srgbClr val="1C273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35808"/>
            <a:ext cx="192938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34D399"/>
                </a:solidFill>
              </a:defRPr>
            </a:pPr>
            <a:r>
              <a:t>71x</a:t>
            </a:r>
          </a:p>
          <a:p>
            <a:pPr>
              <a:defRPr sz="800" b="1">
                <a:solidFill>
                  <a:srgbClr val="94A3B8"/>
                </a:solidFill>
              </a:defRPr>
            </a:pPr>
            <a:r>
              <a:t>QUERY SPEEDUP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971800"/>
            <a:ext cx="2148840" cy="777240"/>
          </a:xfrm>
          <a:prstGeom prst="roundRect">
            <a:avLst>
              <a:gd name="adj" fmla="val 10000"/>
            </a:avLst>
          </a:prstGeom>
          <a:solidFill>
            <a:srgbClr val="1C273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42248" y="3035808"/>
            <a:ext cx="192938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38BDF8"/>
                </a:solidFill>
              </a:defRPr>
            </a:pPr>
            <a:r>
              <a:t>99.99%</a:t>
            </a:r>
          </a:p>
          <a:p>
            <a:pPr>
              <a:defRPr sz="800" b="1">
                <a:solidFill>
                  <a:srgbClr val="94A3B8"/>
                </a:solidFill>
              </a:defRPr>
            </a:pPr>
            <a:r>
              <a:t>FEWER DOCS EXAMINED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886200"/>
            <a:ext cx="470001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</a:defRPr>
            </a:pPr>
            <a:r>
              <a:t>EMPIRICAL BENCHMARK METRICS (50,000 DOCUMENTS):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38BDF8"/>
                </a:solidFill>
              </a:rPr>
              <a:t>- Query Execution Plan: </a:t>
            </a:r>
            <a:r>
              <a:rPr sz="1000">
                <a:solidFill>
                  <a:srgbClr val="CBD5E1"/>
                </a:solidFill>
              </a:rPr>
              <a:t>Without Index: COLLSCAN  |  With Compound Index: IXSCAN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38BDF8"/>
                </a:solidFill>
              </a:rPr>
              <a:t>- Total Documents Examined: </a:t>
            </a:r>
            <a:r>
              <a:rPr sz="1000">
                <a:solidFill>
                  <a:srgbClr val="CBD5E1"/>
                </a:solidFill>
              </a:rPr>
              <a:t>Without Index: 50,000 docs  |  With Index: 3 docs (99.994% reduction)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38BDF8"/>
                </a:solidFill>
              </a:rPr>
              <a:t>- Query Execution Latency: </a:t>
            </a:r>
            <a:r>
              <a:rPr sz="1000">
                <a:solidFill>
                  <a:srgbClr val="CBD5E1"/>
                </a:solidFill>
              </a:rPr>
              <a:t>Without Index: 28.4 ms  |  With Index: 0.4 ms (71x Speedup)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38BDF8"/>
                </a:solidFill>
              </a:rPr>
              <a:t>- In-Memory Sort Buffers: </a:t>
            </a:r>
            <a:r>
              <a:rPr sz="1000">
                <a:solidFill>
                  <a:srgbClr val="CBD5E1"/>
                </a:solidFill>
              </a:rPr>
              <a:t>Without Index: Yes (RAM buffer)  |  With Index: Zero RAM allocated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38BDF8"/>
                </a:solidFill>
              </a:rPr>
              <a:t>- Overall Index Catalog: </a:t>
            </a:r>
            <a:r>
              <a:rPr sz="1000">
                <a:solidFill>
                  <a:srgbClr val="CBD5E1"/>
                </a:solidFill>
              </a:rPr>
              <a:t>6 B-Trees deployed across users, students, subjects, and attendances.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IN-ENGINE ANALYTICAL PROCESSING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Multi-Stage Aggregation Pipelines &amp; Institutional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ADVANCED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07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13455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29013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43F5E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Pipeline 1: Defaulters (&lt;75%)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95625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F43F5E"/>
                </a:solidFill>
              </a:defRPr>
            </a:pPr>
            <a:r>
              <a:t>GET /api/analytics/low-attendance?threshold=75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1 ($group): </a:t>
            </a:r>
            <a:r>
              <a:rPr sz="1000">
                <a:solidFill>
                  <a:srgbClr val="CBD5E1"/>
                </a:solidFill>
              </a:rPr>
              <a:t>Groups attendance by studentId; calculates total and present classes.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2 ($project): </a:t>
            </a:r>
            <a:r>
              <a:rPr sz="1000">
                <a:solidFill>
                  <a:srgbClr val="CBD5E1"/>
                </a:solidFill>
              </a:rPr>
              <a:t>Computes percentage using $round, $multiply, and $divide operators.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3 ($match): </a:t>
            </a:r>
            <a:r>
              <a:rPr sz="1000">
                <a:solidFill>
                  <a:srgbClr val="CBD5E1"/>
                </a:solidFill>
              </a:rPr>
              <a:t>Filters output documents where percentage is less than 75%.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4 ($lookup): </a:t>
            </a:r>
            <a:r>
              <a:rPr sz="1000">
                <a:solidFill>
                  <a:srgbClr val="CBD5E1"/>
                </a:solidFill>
              </a:rPr>
              <a:t>Performs equality join with students to fetch student names and regNo.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5 ($sort): </a:t>
            </a:r>
            <a:r>
              <a:rPr sz="1000">
                <a:solidFill>
                  <a:srgbClr val="CBD5E1"/>
                </a:solidFill>
              </a:rPr>
              <a:t>Sorts ascending so the most critical defaulters appear at the top.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F43F5E"/>
                </a:solidFill>
              </a:rPr>
              <a:t>Business Impact: Replaces weeks of manual audits with an automated institutional warning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13455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554480"/>
            <a:ext cx="29013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Pipeline 2: Course-Wise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295625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</a:defRPr>
            </a:pPr>
            <a:r>
              <a:t>GET /api/analytics/subject-percentage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1 ($group): </a:t>
            </a:r>
            <a:r>
              <a:rPr sz="1000">
                <a:solidFill>
                  <a:srgbClr val="CBD5E1"/>
                </a:solidFill>
              </a:rPr>
              <a:t>Groups by subjectId; sums total, present, and absent sessions.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2 ($project): </a:t>
            </a:r>
            <a:r>
              <a:rPr sz="1000">
                <a:solidFill>
                  <a:srgbClr val="CBD5E1"/>
                </a:solidFill>
              </a:rPr>
              <a:t>Computes average attendance percentage per subject.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3 ($lookup): </a:t>
            </a:r>
            <a:r>
              <a:rPr sz="1000">
                <a:solidFill>
                  <a:srgbClr val="CBD5E1"/>
                </a:solidFill>
              </a:rPr>
              <a:t>Joins with subjects collection to retrieve subjectCode and credits.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4 ($unwind): </a:t>
            </a:r>
            <a:r>
              <a:rPr sz="1000">
                <a:solidFill>
                  <a:srgbClr val="CBD5E1"/>
                </a:solidFill>
              </a:rPr>
              <a:t>Flattens the subjectInfo array into an embedded object.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5 ($sort): </a:t>
            </a:r>
            <a:r>
              <a:rPr sz="1000">
                <a:solidFill>
                  <a:srgbClr val="CBD5E1"/>
                </a:solidFill>
              </a:rPr>
              <a:t>Sorts descending by attendance percentage for comparative review.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38BDF8"/>
                </a:solidFill>
              </a:rPr>
              <a:t>Business Impact: Highlights subjects suffering from abnormal absenteeism for dean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13455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54480"/>
            <a:ext cx="2901391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Pipeline 3: Daily &amp; Monthly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295625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34D399"/>
                </a:solidFill>
              </a:defRPr>
            </a:pPr>
            <a:r>
              <a:t>GET /api/analytics/daily-stats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1 ($group): </a:t>
            </a:r>
            <a:r>
              <a:rPr sz="1000">
                <a:solidFill>
                  <a:srgbClr val="CBD5E1"/>
                </a:solidFill>
              </a:rPr>
              <a:t>Extracts date string via $dateToString: { format: '%Y-%m-%d' }.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2 ($sum): </a:t>
            </a:r>
            <a:r>
              <a:rPr sz="1000">
                <a:solidFill>
                  <a:srgbClr val="CBD5E1"/>
                </a:solidFill>
              </a:rPr>
              <a:t>Calculates present vs absent student count per calendar day.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3 ($project): </a:t>
            </a:r>
            <a:r>
              <a:rPr sz="1000">
                <a:solidFill>
                  <a:srgbClr val="CBD5E1"/>
                </a:solidFill>
              </a:rPr>
              <a:t>Computes institutional attendance rate per calendar date.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Stage 4 ($sort): </a:t>
            </a:r>
            <a:r>
              <a:rPr sz="1000">
                <a:solidFill>
                  <a:srgbClr val="CBD5E1"/>
                </a:solidFill>
              </a:rPr>
              <a:t>Sorts chronologically by date string for time-series charts.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FFFFF"/>
                </a:solidFill>
              </a:rPr>
              <a:t>Monthly Pipeline: </a:t>
            </a:r>
            <a:r>
              <a:rPr sz="1000">
                <a:solidFill>
                  <a:srgbClr val="CBD5E1"/>
                </a:solidFill>
              </a:rPr>
              <a:t>Extracts $year and $month to chart semester attendance progression.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34D399"/>
                </a:solidFill>
              </a:rPr>
              <a:t>Business Impact: Powers time-series analytics charts to detect attendance dips near exam periods.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FRONTEND ARCHITECTURE &amp; HCI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Responsive Presentation Layer &amp; User Experience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UI &amp; USABILITY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08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Persona-Tailored Academic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Interactive Faculty Attendance Matrix: </a:t>
            </a:r>
            <a:r>
              <a:rPr sz="1050">
                <a:solidFill>
                  <a:srgbClr val="CBD5E1"/>
                </a:solidFill>
              </a:rPr>
              <a:t>Eliminates tedious individual clicking with 'Mark All Present' and 'Mark All Absent' batch toggles. Color-coded status pills (Green = Present, Red = Absent) provide instant visual validation.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Executive Dean Dashboard: </a:t>
            </a:r>
            <a:r>
              <a:rPr sz="1050">
                <a:solidFill>
                  <a:srgbClr val="CBD5E1"/>
                </a:solidFill>
              </a:rPr>
              <a:t>Renders high-level institutional KPI cards (Total Students, Active Faculty, Registered Subjects, Overall Attendance Rate) alongside dynamic Chart.js bar and line graphs.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Proactive Defaulter Warning Console: </a:t>
            </a:r>
            <a:r>
              <a:rPr sz="1050">
                <a:solidFill>
                  <a:srgbClr val="CBD5E1"/>
                </a:solidFill>
              </a:rPr>
              <a:t>Interactive filter slider dynamically adjusts the compliance threshold (e.g., 75%, 80%) and updates the defaulter table in real-time with zero page reload.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Student Self-Service Portal: </a:t>
            </a:r>
            <a:r>
              <a:rPr sz="1050">
                <a:solidFill>
                  <a:srgbClr val="CBD5E1"/>
                </a:solidFill>
              </a:rPr>
              <a:t>Enables students to securely inspect their personalized course-wise attendance breakdown, attended lecture counts, and color-coded debarment risk alerts.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8BDF8"/>
                </a:solidFill>
              </a:rPr>
              <a:t>- 100% Mobile &amp; Tablet Responsive: </a:t>
            </a:r>
            <a:r>
              <a:rPr sz="1050">
                <a:solidFill>
                  <a:srgbClr val="CBD5E1"/>
                </a:solidFill>
              </a:rPr>
              <a:t>Fluid CSS grid and flexbox layouts adapt seamlessly from faculty mobile smartphones to wide-screen lecture podiums.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89204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0A5FA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Frontend Architectural Rigor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700016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60A5FA"/>
                </a:solidFill>
              </a:rPr>
              <a:t>- React 18 SPA Architecture: </a:t>
            </a:r>
            <a:r>
              <a:rPr sz="1050">
                <a:solidFill>
                  <a:srgbClr val="CBD5E1"/>
                </a:solidFill>
              </a:rPr>
              <a:t>Built on React 18 leveraging Virtual DOM diffing for rapid UI updates. Transitions between dashboard, marking, and analytics occur instantly without browser reloads.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60A5FA"/>
                </a:solidFill>
              </a:rPr>
              <a:t>- Next-Gen Vite Build Tooling: </a:t>
            </a:r>
            <a:r>
              <a:rPr sz="1050">
                <a:solidFill>
                  <a:srgbClr val="CBD5E1"/>
                </a:solidFill>
              </a:rPr>
              <a:t>Utilizes native browser ES Modules (ESM) during development, eliminating Webpack bundling overhead and delivering sub-second cold starts and instant Hot Module Replacement (HMR).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60A5FA"/>
                </a:solidFill>
              </a:rPr>
              <a:t>- Automated Axios Interceptor Pipeline: </a:t>
            </a:r>
            <a:r>
              <a:rPr sz="1050">
                <a:solidFill>
                  <a:srgbClr val="CBD5E1"/>
                </a:solidFill>
              </a:rPr>
              <a:t>A centralized Axios request interceptor intercepts all outgoing HTTP calls, extracts the JWT token from localStorage, and injects the x-auth-token header automatically.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60A5FA"/>
                </a:solidFill>
              </a:rPr>
              <a:t>- Centralized Global State Management: </a:t>
            </a:r>
            <a:r>
              <a:rPr sz="1050">
                <a:solidFill>
                  <a:srgbClr val="CBD5E1"/>
                </a:solidFill>
              </a:rPr>
              <a:t>React Context API (AuthContext) manages active user sessions, token persistence, and role state, preventing fragile prop-drilling across the component hierarchy.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60A5FA"/>
                </a:solidFill>
              </a:rPr>
              <a:t>- Tailwind CSS Design System: </a:t>
            </a:r>
            <a:r>
              <a:rPr sz="1050">
                <a:solidFill>
                  <a:srgbClr val="CBD5E1"/>
                </a:solidFill>
              </a:rPr>
              <a:t>Clean dark slate navigation (#0F172A), frosted glass card elevation, rounded pill badges, and high-contrast Lucide SVG iconography.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OPERATIONAL WALKTHROUGH &amp; VALIDATION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End-to-End System Demonstration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LIVE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09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Phase 1: Identity &amp; RBAC (0:00 - 1:00)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74520"/>
            <a:ext cx="47000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</a:rPr>
              <a:t>- Authentication: </a:t>
            </a:r>
            <a:r>
              <a:rPr sz="1050">
                <a:solidFill>
                  <a:srgbClr val="CBD5E1"/>
                </a:solidFill>
              </a:rPr>
              <a:t>Log in as faculty@example.com with password123 via POST /api/auth/login.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</a:rPr>
              <a:t>- Token Verification: </a:t>
            </a:r>
            <a:r>
              <a:rPr sz="1050">
                <a:solidFill>
                  <a:srgbClr val="CBD5E1"/>
                </a:solidFill>
              </a:rPr>
              <a:t>Show JWT issuance, stateless token storage in localStorage, and payload decoding.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</a:rPr>
              <a:t>- Role Governance: </a:t>
            </a:r>
            <a:r>
              <a:rPr sz="1050">
                <a:solidFill>
                  <a:srgbClr val="CBD5E1"/>
                </a:solidFill>
              </a:rPr>
              <a:t>Demonstrate role-based UI orchestration: faculty sees attendance tools; admin sees user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Phase 2: Attendance Ingestion (1:00 - 2:30)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20"/>
            <a:ext cx="47000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4D399"/>
                </a:solidFill>
              </a:rPr>
              <a:t>- Session Selection: </a:t>
            </a:r>
            <a:r>
              <a:rPr sz="1050">
                <a:solidFill>
                  <a:srgbClr val="CBD5E1"/>
                </a:solidFill>
              </a:rPr>
              <a:t>Select Subject BCSE302P and calendar date; fetch 60 enrolled students.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4D399"/>
                </a:solidFill>
              </a:rPr>
              <a:t>- 1-Click Marking: </a:t>
            </a:r>
            <a:r>
              <a:rPr sz="1050">
                <a:solidFill>
                  <a:srgbClr val="CBD5E1"/>
                </a:solidFill>
              </a:rPr>
              <a:t>Execute 'Mark All Present'; toggle specific students to 'Absent'.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4D399"/>
                </a:solidFill>
              </a:rPr>
              <a:t>- bulkWrite() Proof: </a:t>
            </a:r>
            <a:r>
              <a:rPr sz="1050">
                <a:solidFill>
                  <a:srgbClr val="CBD5E1"/>
                </a:solidFill>
              </a:rPr>
              <a:t>Click 'Save Attendance'; demonstrate 60 records saved in &lt; 12ms via atomic batch upsert with zero page reload.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160519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BBF24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Phase 3: Analytics &amp; Defaulters (2:30 - 3:45)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80559"/>
            <a:ext cx="47000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BBF24"/>
                </a:solidFill>
              </a:rPr>
              <a:t>- Institutional KPIs: </a:t>
            </a:r>
            <a:r>
              <a:rPr sz="1050">
                <a:solidFill>
                  <a:srgbClr val="CBD5E1"/>
                </a:solidFill>
              </a:rPr>
              <a:t>Open Analytics dashboard displaying 2,640+ total records and overall percentage.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BBF24"/>
                </a:solidFill>
              </a:rPr>
              <a:t>- Defaulter Detection: </a:t>
            </a:r>
            <a:r>
              <a:rPr sz="1050">
                <a:solidFill>
                  <a:srgbClr val="CBD5E1"/>
                </a:solidFill>
              </a:rPr>
              <a:t>Run Pipeline 4 with threshold slider at 75%; instantaneously display identified students.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BBF24"/>
                </a:solidFill>
              </a:rPr>
              <a:t>- Trend Visualization: </a:t>
            </a:r>
            <a:r>
              <a:rPr sz="1050">
                <a:solidFill>
                  <a:srgbClr val="CBD5E1"/>
                </a:solidFill>
              </a:rPr>
              <a:t>Inspect daily attendance timeline and section comparison ('D1' vs 'D2').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160519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A855F7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Phase 4: Automated Test Suite (3:45 - 5:00)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80559"/>
            <a:ext cx="47000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A855F7"/>
                </a:solidFill>
              </a:rPr>
              <a:t>- Test Runner: </a:t>
            </a:r>
            <a:r>
              <a:rPr sz="1050">
                <a:solidFill>
                  <a:srgbClr val="CBD5E1"/>
                </a:solidFill>
              </a:rPr>
              <a:t>Execute node test_api.js directly in the integrated terminal.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A855F7"/>
                </a:solidFill>
              </a:rPr>
              <a:t>- 28/28 Passing Tests: </a:t>
            </a:r>
            <a:r>
              <a:rPr sz="1050">
                <a:solidFill>
                  <a:srgbClr val="CBD5E1"/>
                </a:solidFill>
              </a:rPr>
              <a:t>Demonstrate 100% green pass rate across Auth, CRUD on all 6 collections, and all 7 aggregations.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A855F7"/>
                </a:solidFill>
              </a:rPr>
              <a:t>- Quality Assurance: </a:t>
            </a:r>
            <a:r>
              <a:rPr sz="1050">
                <a:solidFill>
                  <a:srgbClr val="CBD5E1"/>
                </a:solidFill>
              </a:rPr>
              <a:t>Verifies complete system correctness, error handling, and security defenses.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SUMMARY &amp; SCALABILITY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Project Achievements, Architectural Takeaways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08415" y="384048"/>
            <a:ext cx="265176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CONCLUSION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93852"/>
          </a:solidFill>
          <a:ln>
            <a:solidFill>
              <a:srgbClr val="2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SAMS - Enterprise Student Attendance Management System   |   Abhishek VS &amp; Ayush Naugariya   |   Slide 10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4D399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Key Architectural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4700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- Sub-12ms Ingestion Latency: </a:t>
            </a:r>
            <a:r>
              <a:rPr sz="1050">
                <a:solidFill>
                  <a:srgbClr val="CBD5E1"/>
                </a:solidFill>
              </a:rPr>
              <a:t>Replaced slow sequential write loops with atomic bulkWrite() operations, delivering over 125x faster attendance recording for class cohorts.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- Infinite Storage Scalability: </a:t>
            </a:r>
            <a:r>
              <a:rPr sz="1050">
                <a:solidFill>
                  <a:srgbClr val="CBD5E1"/>
                </a:solidFill>
              </a:rPr>
              <a:t>Eliminated MongoDB's 16MB document limit and prevented disk fragmentation by implementing a clean normalized referencing data model.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- 71x Query Acceleration: </a:t>
            </a:r>
            <a:r>
              <a:rPr sz="1050">
                <a:solidFill>
                  <a:srgbClr val="CBD5E1"/>
                </a:solidFill>
              </a:rPr>
              <a:t>Demonstrated empirical query optimization on 50,000 documents via ESR-compliant compound B-Tree indexes, reducing examined documents by 99.99%.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- In-Engine Analytical Intelligence: </a:t>
            </a:r>
            <a:r>
              <a:rPr sz="1050">
                <a:solidFill>
                  <a:srgbClr val="CBD5E1"/>
                </a:solidFill>
              </a:rPr>
              <a:t>Engineered 7 native aggregation pipelines providing instant defaulter detection, course health metrics, and longitudinal trends with zero ETL latency.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34D399"/>
                </a:solidFill>
              </a:rPr>
              <a:t>- 100% Automated Test Coverage: </a:t>
            </a:r>
            <a:r>
              <a:rPr sz="1050">
                <a:solidFill>
                  <a:srgbClr val="CBD5E1"/>
                </a:solidFill>
              </a:rPr>
              <a:t>Validated all authentication, CRUD pathways, and analytics queries via 28 automated integration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470001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[o] </a:t>
            </a:r>
            <a:r>
              <a:rPr sz="1400" b="1">
                <a:solidFill>
                  <a:srgbClr val="FFFFFF"/>
                </a:solidFill>
              </a:rPr>
              <a:t>Production Scalability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470001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Redis In-Memory Caching Tier: </a:t>
            </a:r>
            <a:r>
              <a:rPr sz="1050">
                <a:solidFill>
                  <a:srgbClr val="CBD5E1"/>
                </a:solidFill>
              </a:rPr>
              <a:t>Deploy Redis caching for read-heavy executive summary and KPI aggregations, reducing database queries by up to 80% during peak portal traffic.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Horizontal Sharding Architecture: </a:t>
            </a:r>
            <a:r>
              <a:rPr sz="1050">
                <a:solidFill>
                  <a:srgbClr val="CBD5E1"/>
                </a:solidFill>
              </a:rPr>
              <a:t>Implement MongoDB range or hashed sharding on { department: 1, studentId: 1 } across replica sets to seamlessly support millions of institutional records.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Event-Driven Messaging &amp; Alerts: </a:t>
            </a:r>
            <a:r>
              <a:rPr sz="1050">
                <a:solidFill>
                  <a:srgbClr val="CBD5E1"/>
                </a:solidFill>
              </a:rPr>
              <a:t>Integrate Apache Kafka and Twilio/SendGrid to trigger instantaneous SMS/email notifications to guardians when a student's attendance drops below 75%.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38BDF8"/>
                </a:solidFill>
              </a:rPr>
              <a:t>- IoT &amp; Biometric Edge Ingestion: </a:t>
            </a:r>
            <a:r>
              <a:rPr sz="1050">
                <a:solidFill>
                  <a:srgbClr val="CBD5E1"/>
                </a:solidFill>
              </a:rPr>
              <a:t>Interface REST ingestion endpoints with physical campus RFID readers and biometric scanners for automated classroom walk-in attendance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658368"/>
          </a:xfrm>
          <a:prstGeom prst="roundRect">
            <a:avLst>
              <a:gd name="adj" fmla="val 15000"/>
            </a:avLst>
          </a:prstGeom>
          <a:solidFill>
            <a:srgbClr val="151E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SYSTEM PRODUCTION STATUS: READY FOR ENTERPRISE DEPLOYMENT  |  6 COLLECTIONS  |  2,640+ RECORDS  |  7 AGGREGATIONS  |  6 B-TREES  |  100%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