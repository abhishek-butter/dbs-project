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005840"/>
            <a:ext cx="137160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10362895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38BDF8"/>
                </a:solidFill>
              </a:defRPr>
            </a:pPr>
            <a:r>
              <a:t>BCSE302P — DATABASE SYSTEMS LAB   |   PROJECT PRESENTATION</a:t>
            </a:r>
          </a:p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Student Attendance Management System</a:t>
            </a:r>
          </a:p>
          <a:p>
            <a:pPr>
              <a:defRPr sz="1350">
                <a:solidFill>
                  <a:srgbClr val="60A5FA"/>
                </a:solidFill>
              </a:defRPr>
            </a:pPr>
            <a:r>
              <a:t>Enterprise Document-Oriented NoSQL Platform with MongoDB 7.x, Atomic bulkWrite() Upserts, Compound Indexing &amp; Real-Time Aggregation Analytics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246120"/>
            <a:ext cx="10362895" cy="1417320"/>
          </a:xfrm>
          <a:prstGeom prst="roundRect">
            <a:avLst>
              <a:gd name="adj" fmla="val 4000"/>
            </a:avLst>
          </a:prstGeom>
          <a:solidFill>
            <a:srgbClr val="151E2E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364992"/>
            <a:ext cx="99056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34D399"/>
                </a:solidFill>
              </a:defRPr>
            </a:pPr>
            <a:r>
              <a:t>INDUSTRY PARADIGM SHIFT: 'FROM REGISTER TO INTELLIGENCE' (SCHOOLLOG BENCHMARK)</a:t>
            </a:r>
          </a:p>
          <a:p>
            <a:pPr>
              <a:spcAft>
                <a:spcPts val="400"/>
              </a:spcAft>
              <a:defRPr sz="1150" i="1">
                <a:solidFill>
                  <a:srgbClr val="F1F5F9"/>
                </a:solidFill>
              </a:defRPr>
            </a:pPr>
            <a:r>
              <a:t>"Transforming legacy paper rosters into a proactive, auditable early-warning intervention engine. While commercial ERPs cite 40 students in 30 seconds, our atomic bulkWrite() architecture commits 60 students in &lt; 12ms (&gt;2,500x faster) with zero data loss, dynamic defaulter alerts (&lt;75%), and 3-tier zero-trust isolation."</a:t>
            </a:r>
          </a:p>
          <a:p>
            <a:pPr>
              <a:defRPr sz="950" b="1">
                <a:solidFill>
                  <a:srgbClr val="FBBF24"/>
                </a:solidFill>
              </a:defRPr>
            </a:pPr>
            <a:r>
              <a:t>Engineering Highlights: Production-grade MERN architecture with 6 collections, 2,640+ seed records, 7 native aggregation pipelines, and 35 automated integration test suites.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46320"/>
            <a:ext cx="2542032" cy="1325880"/>
          </a:xfrm>
          <a:prstGeom prst="roundRect">
            <a:avLst>
              <a:gd name="adj" fmla="val 8000"/>
            </a:avLst>
          </a:prstGeom>
          <a:solidFill>
            <a:srgbClr val="151E2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956048"/>
            <a:ext cx="221284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1">
                <a:solidFill>
                  <a:srgbClr val="38BDF8"/>
                </a:solidFill>
              </a:defRPr>
            </a:pPr>
            <a:r>
              <a:t>ARCHITECTURE &amp; BACKEND</a:t>
            </a:r>
          </a:p>
          <a:p>
            <a:pPr>
              <a:spcAft>
                <a:spcPts val="300"/>
              </a:spcAft>
              <a:defRPr sz="1100" b="1">
                <a:solidFill>
                  <a:srgbClr val="FFFFFF"/>
                </a:solidFill>
              </a:defRPr>
            </a:pPr>
            <a:r>
              <a:t>Abhishek VS (24BCE0404)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Slot D2 • API Gateway &amp; MongoDB Engine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4846320"/>
            <a:ext cx="2542032" cy="1325880"/>
          </a:xfrm>
          <a:prstGeom prst="roundRect">
            <a:avLst>
              <a:gd name="adj" fmla="val 8000"/>
            </a:avLst>
          </a:prstGeom>
          <a:solidFill>
            <a:srgbClr val="151E2E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76472" y="4956048"/>
            <a:ext cx="221284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1">
                <a:solidFill>
                  <a:srgbClr val="34D399"/>
                </a:solidFill>
              </a:defRPr>
            </a:pPr>
            <a:r>
              <a:t>ANALYTICS &amp; QA LEAD</a:t>
            </a:r>
          </a:p>
          <a:p>
            <a:pPr>
              <a:spcAft>
                <a:spcPts val="300"/>
              </a:spcAft>
              <a:defRPr sz="1100" b="1">
                <a:solidFill>
                  <a:srgbClr val="FFFFFF"/>
                </a:solidFill>
              </a:defRPr>
            </a:pPr>
            <a:r>
              <a:t>Ayush Naugariya (24BDS0076)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Slot D2 • Aggregations &amp; 35 Test Assertions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4846320"/>
            <a:ext cx="2542032" cy="1325880"/>
          </a:xfrm>
          <a:prstGeom prst="roundRect">
            <a:avLst>
              <a:gd name="adj" fmla="val 8000"/>
            </a:avLst>
          </a:prstGeom>
          <a:solidFill>
            <a:srgbClr val="151E2E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4956048"/>
            <a:ext cx="221284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1">
                <a:solidFill>
                  <a:srgbClr val="FBBF24"/>
                </a:solidFill>
              </a:defRPr>
            </a:pPr>
            <a:r>
              <a:t>PERSISTENCE ENGINE</a:t>
            </a:r>
          </a:p>
          <a:p>
            <a:pPr>
              <a:spcAft>
                <a:spcPts val="300"/>
              </a:spcAft>
              <a:defRPr sz="1100" b="1">
                <a:solidFill>
                  <a:srgbClr val="FFFFFF"/>
                </a:solidFill>
              </a:defRPr>
            </a:pPr>
            <a:r>
              <a:t>MongoDB 7.x Community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WiredTiger • 6 Collections • 6 B-Tree Indexes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4846320"/>
            <a:ext cx="2542032" cy="1325880"/>
          </a:xfrm>
          <a:prstGeom prst="roundRect">
            <a:avLst>
              <a:gd name="adj" fmla="val 8000"/>
            </a:avLst>
          </a:prstGeom>
          <a:solidFill>
            <a:srgbClr val="151E2E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71432" y="4956048"/>
            <a:ext cx="221284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1">
                <a:solidFill>
                  <a:srgbClr val="A855F7"/>
                </a:solidFill>
              </a:defRPr>
            </a:pPr>
            <a:r>
              <a:t>APPLICATION RUNTIME</a:t>
            </a:r>
          </a:p>
          <a:p>
            <a:pPr>
              <a:spcAft>
                <a:spcPts val="300"/>
              </a:spcAft>
              <a:defRPr sz="1100" b="1">
                <a:solidFill>
                  <a:srgbClr val="FFFFFF"/>
                </a:solidFill>
              </a:defRPr>
            </a:pPr>
            <a:r>
              <a:t>React 18 SPA + Node.js 20</a:t>
            </a:r>
          </a:p>
          <a:p>
            <a:pPr>
              <a:defRPr sz="850">
                <a:solidFill>
                  <a:srgbClr val="94A3B8"/>
                </a:solidFill>
              </a:defRPr>
            </a:pPr>
            <a:r>
              <a:t>Vite ESM • Express.js • Tailwind CSS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PRESENTATION OUTLINE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Executive Project Index &amp; Technical 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08415" y="384048"/>
            <a:ext cx="2651760" cy="365760"/>
          </a:xfrm>
          <a:prstGeom prst="roundRect">
            <a:avLst>
              <a:gd name="adj" fmla="val 25000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r>
              <a:t>PROJECT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293852"/>
          </a:solidFill>
          <a:ln>
            <a:solidFill>
              <a:srgbClr val="29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SAMS - Enterprise Student Attendance Management System   |   Abhishek VS (24BCE0404) &amp; Ayush Naugariya (24BDS0076)   |   Slot D2   |   Slide 02 of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53312"/>
            <a:ext cx="10728655" cy="384048"/>
          </a:xfrm>
          <a:prstGeom prst="roundRect">
            <a:avLst>
              <a:gd name="adj" fmla="val 20000"/>
            </a:avLst>
          </a:prstGeom>
          <a:solidFill>
            <a:srgbClr val="1C273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34D399"/>
                </a:solidFill>
              </a:defRPr>
            </a:pPr>
            <a:r>
              <a:t>PROJECT HIGHLIGHTS:   6 Normalized Collections   |   2,640+ Seeded Documents   |   7 Aggregation Pipelines   |   6 Compound Indexes   |   35 Automated Test Suites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19"/>
            <a:ext cx="3413455" cy="4389120"/>
          </a:xfrm>
          <a:prstGeom prst="roundRect">
            <a:avLst>
              <a:gd name="adj" fmla="val 4000"/>
            </a:avLst>
          </a:prstGeom>
          <a:solidFill>
            <a:srgbClr val="151E2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39111"/>
            <a:ext cx="29562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38BDF8"/>
                </a:solidFill>
              </a:rPr>
              <a:t>[o] </a:t>
            </a:r>
            <a:r>
              <a:rPr sz="1300" b="1">
                <a:solidFill>
                  <a:srgbClr val="FFFFFF"/>
                </a:solidFill>
              </a:rPr>
              <a:t>Part 1: Problem &amp;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31720"/>
            <a:ext cx="30083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000">
                <a:solidFill>
                  <a:srgbClr val="38BDF8"/>
                </a:solidFill>
              </a:rPr>
              <a:t>Topic 01 | Domain Challenges &amp; Objectives (Slide 03): </a:t>
            </a:r>
            <a:r>
              <a:rPr sz="950">
                <a:solidFill>
                  <a:srgbClr val="CBD5E1"/>
                </a:solidFill>
              </a:rPr>
              <a:t>Physical paper register vulnerabilities; Schoollog 'From Register to Intelligence' paradigm; 4 strategic engineering goals; 3-Tier full-stack MERN stack.</a:t>
            </a:r>
          </a:p>
          <a:p>
            <a:pPr>
              <a:spcAft>
                <a:spcPts val="700"/>
              </a:spcAft>
            </a:pPr>
            <a:r>
              <a:rPr b="1" sz="1000">
                <a:solidFill>
                  <a:srgbClr val="38BDF8"/>
                </a:solidFill>
              </a:rPr>
              <a:t>Topic 02 | DB Selection &amp; Schema Modeling (Slide 04): </a:t>
            </a:r>
            <a:r>
              <a:rPr sz="950">
                <a:solidFill>
                  <a:srgbClr val="CBD5E1"/>
                </a:solidFill>
              </a:rPr>
              <a:t>Why MongoDB BSON over Relational SQL; Referencing vs. Embedding 16MB mathematical proof; 6 master normalized production collections with foreign key linkages.</a:t>
            </a:r>
          </a:p>
          <a:p>
            <a:pPr>
              <a:spcAft>
                <a:spcPts val="700"/>
              </a:spcAft>
            </a:pPr>
            <a:r>
              <a:rPr b="1" sz="1000">
                <a:solidFill>
                  <a:srgbClr val="38BDF8"/>
                </a:solidFill>
              </a:rPr>
              <a:t>Architectural Foundation: </a:t>
            </a:r>
            <a:r>
              <a:rPr sz="950">
                <a:solidFill>
                  <a:srgbClr val="CBD5E1"/>
                </a:solidFill>
              </a:rPr>
              <a:t>Scalable schema design built for high-concurrency ingestion and rapid in-engine aggregation processing.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5779008"/>
            <a:ext cx="3081528" cy="365760"/>
          </a:xfrm>
          <a:prstGeom prst="roundRect">
            <a:avLst>
              <a:gd name="adj" fmla="val 12000"/>
            </a:avLst>
          </a:prstGeom>
          <a:solidFill>
            <a:srgbClr val="1C273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>
              <a:defRPr sz="880" b="1">
                <a:solidFill>
                  <a:srgbClr val="38BDF8"/>
                </a:solidFill>
              </a:defRPr>
            </a:pPr>
            <a:r>
              <a:t>FOUNDATIONS: Domain Requirements &amp; Schema Architecture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874519"/>
            <a:ext cx="3413455" cy="4389120"/>
          </a:xfrm>
          <a:prstGeom prst="roundRect">
            <a:avLst>
              <a:gd name="adj" fmla="val 4000"/>
            </a:avLst>
          </a:prstGeom>
          <a:solidFill>
            <a:srgbClr val="151E2E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039111"/>
            <a:ext cx="29562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34D399"/>
                </a:solidFill>
              </a:rPr>
              <a:t>[o] </a:t>
            </a:r>
            <a:r>
              <a:rPr sz="1300" b="1">
                <a:solidFill>
                  <a:srgbClr val="FFFFFF"/>
                </a:solidFill>
              </a:rPr>
              <a:t>Part 2: Ingestion &amp; In-Engine Analytics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331720"/>
            <a:ext cx="30083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000">
                <a:solidFill>
                  <a:srgbClr val="34D399"/>
                </a:solidFill>
              </a:rPr>
              <a:t>Topic 03 | System Workflows &amp; Role-Based Access (Slide 05): </a:t>
            </a:r>
            <a:r>
              <a:rPr sz="950">
                <a:solidFill>
                  <a:srgbClr val="CBD5E1"/>
                </a:solidFill>
              </a:rPr>
              <a:t>Full-stack operational walkthrough across 3-tier zero-trust RBAC (Student self-service, Faculty course-scoped, Admin global); 4th nav ('Analytics &amp; Reports') locked from student.</a:t>
            </a:r>
          </a:p>
          <a:p>
            <a:pPr>
              <a:spcAft>
                <a:spcPts val="700"/>
              </a:spcAft>
            </a:pPr>
            <a:r>
              <a:rPr b="1" sz="1000">
                <a:solidFill>
                  <a:srgbClr val="34D399"/>
                </a:solidFill>
              </a:rPr>
              <a:t>Topic 04 | Full CRUD &amp; Atomic Batch Ingestion (Slide 06): </a:t>
            </a:r>
            <a:r>
              <a:rPr sz="950">
                <a:solidFill>
                  <a:srgbClr val="CBD5E1"/>
                </a:solidFill>
              </a:rPr>
              <a:t>5-entity REST API matrix with complete CRUD; atomic bulkWrite() upsert (&lt;12ms) vs. naive loop of save(); 100% idempotent submission guarantee.</a:t>
            </a:r>
          </a:p>
          <a:p>
            <a:pPr>
              <a:spcAft>
                <a:spcPts val="700"/>
              </a:spcAft>
            </a:pPr>
            <a:r>
              <a:rPr b="1" sz="1000">
                <a:solidFill>
                  <a:srgbClr val="34D399"/>
                </a:solidFill>
              </a:rPr>
              <a:t>Topic 05 | 7 In-Engine Aggregation Pipelines (Slide 07): </a:t>
            </a:r>
            <a:r>
              <a:rPr sz="950">
                <a:solidFill>
                  <a:srgbClr val="CBD5E1"/>
                </a:solidFill>
              </a:rPr>
              <a:t>Dynamic defaulter alert pipeline (&lt;75% threshold); course attendance health; daily and monthly longitudinal attendance progression in database RAM.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53712" y="5779008"/>
            <a:ext cx="3081528" cy="365760"/>
          </a:xfrm>
          <a:prstGeom prst="roundRect">
            <a:avLst>
              <a:gd name="adj" fmla="val 12000"/>
            </a:avLst>
          </a:prstGeom>
          <a:solidFill>
            <a:srgbClr val="1C273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>
              <a:defRPr sz="880" b="1">
                <a:solidFill>
                  <a:srgbClr val="34D399"/>
                </a:solidFill>
              </a:defRPr>
            </a:pPr>
            <a:r>
              <a:t>CORE SYSTEMS: Ingestion Pipelines &amp; Analytical Processing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874519"/>
            <a:ext cx="3413455" cy="4389120"/>
          </a:xfrm>
          <a:prstGeom prst="roundRect">
            <a:avLst>
              <a:gd name="adj" fmla="val 4000"/>
            </a:avLst>
          </a:prstGeom>
          <a:solidFill>
            <a:srgbClr val="151E2E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2039111"/>
            <a:ext cx="29562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FBBF24"/>
                </a:solidFill>
              </a:rPr>
              <a:t>[o] </a:t>
            </a:r>
            <a:r>
              <a:rPr sz="1300" b="1">
                <a:solidFill>
                  <a:srgbClr val="FFFFFF"/>
                </a:solidFill>
              </a:rPr>
              <a:t>Part 3: UI, Optimization &amp; Roadmap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2331720"/>
            <a:ext cx="30083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000">
                <a:solidFill>
                  <a:srgbClr val="FBBF24"/>
                </a:solidFill>
              </a:rPr>
              <a:t>Topic 06 | Responsive UI &amp; Experience Design (Slide 08): </a:t>
            </a:r>
            <a:r>
              <a:rPr sz="950">
                <a:solidFill>
                  <a:srgbClr val="CBD5E1"/>
                </a:solidFill>
              </a:rPr>
              <a:t>Interactive faculty attendance matrix; 1-click batch roll-call; real-time Chart.js KPI dashboards; dynamic defaulter threshold slider with CSV export.</a:t>
            </a:r>
          </a:p>
          <a:p>
            <a:pPr>
              <a:spcAft>
                <a:spcPts val="700"/>
              </a:spcAft>
            </a:pPr>
            <a:r>
              <a:rPr b="1" sz="1000">
                <a:solidFill>
                  <a:srgbClr val="FBBF24"/>
                </a:solidFill>
              </a:rPr>
              <a:t>Topic 07 | Security &amp; Compound Index Tuning (Slide 09): </a:t>
            </a:r>
            <a:r>
              <a:rPr sz="950">
                <a:solidFill>
                  <a:srgbClr val="CBD5E1"/>
                </a:solidFill>
              </a:rPr>
              <a:t>Compound B-Tree indexing strictly adhering to the ESR rule; COLLSCAN vs. IXSCAN benchmark (71x speedup); Bcrypt salted hashing; stateless JWT.</a:t>
            </a:r>
          </a:p>
          <a:p>
            <a:pPr>
              <a:spcAft>
                <a:spcPts val="700"/>
              </a:spcAft>
            </a:pPr>
            <a:r>
              <a:rPr b="1" sz="1000">
                <a:solidFill>
                  <a:srgbClr val="FBBF24"/>
                </a:solidFill>
              </a:rPr>
              <a:t>Topic 08 | Verification &amp; Scalability Roadmap (Slide 10): </a:t>
            </a:r>
            <a:r>
              <a:rPr sz="950">
                <a:solidFill>
                  <a:srgbClr val="CBD5E1"/>
                </a:solidFill>
              </a:rPr>
              <a:t>35/35 automated integration tests passed (100% pass rate); core engineering achievements; future enhancements (Redis, Sharding, IoT).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11312" y="5779008"/>
            <a:ext cx="3081528" cy="365760"/>
          </a:xfrm>
          <a:prstGeom prst="roundRect">
            <a:avLst>
              <a:gd name="adj" fmla="val 12000"/>
            </a:avLst>
          </a:prstGeom>
          <a:solidFill>
            <a:srgbClr val="1C273A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>
              <a:defRPr sz="880" b="1">
                <a:solidFill>
                  <a:srgbClr val="FBBF24"/>
                </a:solidFill>
              </a:defRPr>
            </a:pPr>
            <a:r>
              <a:t>VALIDATION &amp; ROADMAP: 35 Automated Tests &amp; Future Vision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PROBLEM ANALYSIS &amp; SYSTEM VISION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Domain Bottlenecks &amp; Strategic Engineering Objectives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08415" y="384048"/>
            <a:ext cx="2651760" cy="365760"/>
          </a:xfrm>
          <a:prstGeom prst="roundRect">
            <a:avLst>
              <a:gd name="adj" fmla="val 25000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r>
              <a:t>SYSTEM VISION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293852"/>
          </a:solidFill>
          <a:ln>
            <a:solidFill>
              <a:srgbClr val="29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SAMS - Enterprise Student Attendance Management System   |   Abhishek VS (24BCE0404) &amp; Ayush Naugariya (24BDS0076)   |   Slot D2   |   Slide 03 of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151E2E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47548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F43F5E"/>
                </a:solidFill>
              </a:rPr>
              <a:t>[o] </a:t>
            </a:r>
            <a:r>
              <a:rPr sz="1300" b="1">
                <a:solidFill>
                  <a:srgbClr val="FFFFFF"/>
                </a:solidFill>
              </a:rPr>
              <a:t>The Operational 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1828800"/>
            <a:ext cx="4700016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050">
                <a:solidFill>
                  <a:srgbClr val="F43F5E"/>
                </a:solidFill>
              </a:rPr>
              <a:t>- Manual Ingestion Latency &amp; Human Error: </a:t>
            </a:r>
            <a:r>
              <a:rPr sz="1000">
                <a:solidFill>
                  <a:srgbClr val="CBD5E1"/>
                </a:solidFill>
              </a:rPr>
              <a:t>Traditional attendance relies on physical registers or disconnected spreadsheets, resulting in lost records, proxy sign-ins, and multi-day data transcription delays.</a:t>
            </a:r>
          </a:p>
          <a:p>
            <a:pPr>
              <a:spcAft>
                <a:spcPts val="700"/>
              </a:spcAft>
            </a:pPr>
            <a:r>
              <a:rPr b="1" sz="1050">
                <a:solidFill>
                  <a:srgbClr val="F43F5E"/>
                </a:solidFill>
              </a:rPr>
              <a:t>- Burst Concurrency Bottlenecks: </a:t>
            </a:r>
            <a:r>
              <a:rPr sz="1000">
                <a:solidFill>
                  <a:srgbClr val="CBD5E1"/>
                </a:solidFill>
              </a:rPr>
              <a:t>Campus class transitions force hundreds of instructors to submit records within a 10-minute window, creating massive database lock contention in traditional RDBMS.</a:t>
            </a:r>
          </a:p>
          <a:p>
            <a:pPr>
              <a:spcAft>
                <a:spcPts val="700"/>
              </a:spcAft>
            </a:pPr>
            <a:r>
              <a:rPr b="1" sz="1050">
                <a:solidFill>
                  <a:srgbClr val="F43F5E"/>
                </a:solidFill>
              </a:rPr>
              <a:t>- Delayed Regulatory Interventions: </a:t>
            </a:r>
            <a:r>
              <a:rPr sz="1000">
                <a:solidFill>
                  <a:srgbClr val="CBD5E1"/>
                </a:solidFill>
              </a:rPr>
              <a:t>Mandatory 75% attendance thresholds cannot be enforced proactively when attendance records take weeks to manually audit and compile.</a:t>
            </a:r>
          </a:p>
          <a:p>
            <a:pPr>
              <a:spcAft>
                <a:spcPts val="700"/>
              </a:spcAft>
            </a:pPr>
            <a:r>
              <a:rPr b="1" sz="1050">
                <a:solidFill>
                  <a:srgbClr val="F43F5E"/>
                </a:solidFill>
              </a:rPr>
              <a:t>- Absence of Audit Governance: </a:t>
            </a:r>
            <a:r>
              <a:rPr sz="1000">
                <a:solidFill>
                  <a:srgbClr val="CBD5E1"/>
                </a:solidFill>
              </a:rPr>
              <a:t>Legacy spreadsheets lack cryptographic tampering prevention, granular Role-Based Access Control (RBAC), and reliable submission audit trails.</a:t>
            </a:r>
          </a:p>
          <a:p>
            <a:pPr>
              <a:spcAft>
                <a:spcPts val="700"/>
              </a:spcAft>
            </a:pPr>
            <a:r>
              <a:rPr b="1" sz="1050">
                <a:solidFill>
                  <a:srgbClr val="F43F5E"/>
                </a:solidFill>
              </a:rPr>
              <a:t>- Schoollog Early-Warning Deficit: </a:t>
            </a:r>
            <a:r>
              <a:rPr sz="1000">
                <a:solidFill>
                  <a:srgbClr val="CBD5E1"/>
                </a:solidFill>
              </a:rPr>
              <a:t>Conventional institutional systems act as passive ledgers rather than proactive intervention engines; missing critical early opportunities to counsel disengaged students.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151E2E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536192"/>
            <a:ext cx="47548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34D399"/>
                </a:solidFill>
              </a:rPr>
              <a:t>[o] </a:t>
            </a:r>
            <a:r>
              <a:rPr sz="1300" b="1">
                <a:solidFill>
                  <a:srgbClr val="FFFFFF"/>
                </a:solidFill>
              </a:rPr>
              <a:t>Strategic Engineering Objectives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1828800"/>
            <a:ext cx="4700016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050">
                <a:solidFill>
                  <a:srgbClr val="34D399"/>
                </a:solidFill>
              </a:rPr>
              <a:t>- Sub-12ms Ingestion Latency: </a:t>
            </a:r>
            <a:r>
              <a:rPr sz="1000">
                <a:solidFill>
                  <a:srgbClr val="CBD5E1"/>
                </a:solidFill>
              </a:rPr>
              <a:t>Enable instantaneous, single-click attendance recording for entire cohorts (60+ students per batch) via atomic database batch operations (&gt;2,500x faster than manual).</a:t>
            </a:r>
          </a:p>
          <a:p>
            <a:pPr>
              <a:spcAft>
                <a:spcPts val="700"/>
              </a:spcAft>
            </a:pPr>
            <a:r>
              <a:rPr b="1" sz="1050">
                <a:solidFill>
                  <a:srgbClr val="34D399"/>
                </a:solidFill>
              </a:rPr>
              <a:t>- 100% Idempotent Submissions: </a:t>
            </a:r>
            <a:r>
              <a:rPr sz="1000">
                <a:solidFill>
                  <a:srgbClr val="CBD5E1"/>
                </a:solidFill>
              </a:rPr>
              <a:t>Guarantee that re-submitting or correcting attendance updates records in-place without generating duplicate entries, ensuring complete data integrity.</a:t>
            </a:r>
          </a:p>
          <a:p>
            <a:pPr>
              <a:spcAft>
                <a:spcPts val="700"/>
              </a:spcAft>
            </a:pPr>
            <a:r>
              <a:rPr b="1" sz="1050">
                <a:solidFill>
                  <a:srgbClr val="34D399"/>
                </a:solidFill>
              </a:rPr>
              <a:t>- Live In-Engine Analytics: </a:t>
            </a:r>
            <a:r>
              <a:rPr sz="1000">
                <a:solidFill>
                  <a:srgbClr val="CBD5E1"/>
                </a:solidFill>
              </a:rPr>
              <a:t>Provide academic deans and instructors with real-time institutional intelligence (defaulter lists, course health, daily trends) calculated directly in database memory.</a:t>
            </a:r>
          </a:p>
          <a:p>
            <a:pPr>
              <a:spcAft>
                <a:spcPts val="700"/>
              </a:spcAft>
            </a:pPr>
            <a:r>
              <a:rPr b="1" sz="1050">
                <a:solidFill>
                  <a:srgbClr val="34D399"/>
                </a:solidFill>
              </a:rPr>
              <a:t>- Enterprise Cryptographic Security: </a:t>
            </a:r>
            <a:r>
              <a:rPr sz="1000">
                <a:solidFill>
                  <a:srgbClr val="CBD5E1"/>
                </a:solidFill>
              </a:rPr>
              <a:t>Enforce stateless JSON Web Token (JWT) authentication, 10-round Bcrypt password hashing, and strict 3-tier Role-Based Access Control.</a:t>
            </a:r>
          </a:p>
          <a:p>
            <a:pPr>
              <a:spcAft>
                <a:spcPts val="700"/>
              </a:spcAft>
            </a:pPr>
            <a:r>
              <a:rPr b="1" sz="1050">
                <a:solidFill>
                  <a:srgbClr val="34D399"/>
                </a:solidFill>
              </a:rPr>
              <a:t>- Commercial Benchmark Parity: </a:t>
            </a:r>
            <a:r>
              <a:rPr sz="1000">
                <a:solidFill>
                  <a:srgbClr val="CBD5E1"/>
                </a:solidFill>
              </a:rPr>
              <a:t>Delivers Schoollog-grade early warning alerts (&lt;75% threshold) with instant automated debarment risk calculations and 3-tier multi-tenant data isolation.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623560"/>
            <a:ext cx="3413455" cy="658368"/>
          </a:xfrm>
          <a:prstGeom prst="roundRect">
            <a:avLst>
              <a:gd name="adj" fmla="val 15000"/>
            </a:avLst>
          </a:prstGeom>
          <a:solidFill>
            <a:srgbClr val="151E2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69280"/>
            <a:ext cx="304769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8BDF8"/>
                </a:solidFill>
              </a:defRPr>
            </a:pPr>
            <a:r>
              <a:t>&lt; 12 ms</a:t>
            </a:r>
          </a:p>
          <a:p>
            <a:pPr>
              <a:defRPr sz="850" b="1">
                <a:solidFill>
                  <a:srgbClr val="94A3B8"/>
                </a:solidFill>
              </a:defRPr>
            </a:pPr>
            <a:r>
              <a:t>ATOMIC BATCH INGESTION LATENCY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623560"/>
            <a:ext cx="3413455" cy="658368"/>
          </a:xfrm>
          <a:prstGeom prst="roundRect">
            <a:avLst>
              <a:gd name="adj" fmla="val 15000"/>
            </a:avLst>
          </a:prstGeom>
          <a:solidFill>
            <a:srgbClr val="151E2E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5669280"/>
            <a:ext cx="304769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34D399"/>
                </a:solidFill>
              </a:defRPr>
            </a:pPr>
            <a:r>
              <a:t>100%</a:t>
            </a:r>
          </a:p>
          <a:p>
            <a:pPr>
              <a:defRPr sz="850" b="1">
                <a:solidFill>
                  <a:srgbClr val="94A3B8"/>
                </a:solidFill>
              </a:defRPr>
            </a:pPr>
            <a:r>
              <a:t>IDEMPOTENT &amp; ZERO DUPLICATES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5623560"/>
            <a:ext cx="3413455" cy="658368"/>
          </a:xfrm>
          <a:prstGeom prst="roundRect">
            <a:avLst>
              <a:gd name="adj" fmla="val 15000"/>
            </a:avLst>
          </a:prstGeom>
          <a:solidFill>
            <a:srgbClr val="151E2E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5669280"/>
            <a:ext cx="304769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FBBF24"/>
                </a:solidFill>
              </a:defRPr>
            </a:pPr>
            <a:r>
              <a:t>REAL-TIME</a:t>
            </a:r>
          </a:p>
          <a:p>
            <a:pPr>
              <a:defRPr sz="850" b="1">
                <a:solidFill>
                  <a:srgbClr val="94A3B8"/>
                </a:solidFill>
              </a:defRPr>
            </a:pPr>
            <a:r>
              <a:t>SCHOOLLOG-GRADE EARLY WARNINGS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DATA ENGINEERING &amp; SCHEMA DESIGN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NoSQL Database Selection &amp; 6 Collections Schema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08415" y="384048"/>
            <a:ext cx="2651760" cy="365760"/>
          </a:xfrm>
          <a:prstGeom prst="roundRect">
            <a:avLst>
              <a:gd name="adj" fmla="val 25000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r>
              <a:t>SCHEMA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293852"/>
          </a:solidFill>
          <a:ln>
            <a:solidFill>
              <a:srgbClr val="29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SAMS - Enterprise Student Attendance Management System   |   Abhishek VS (24BCE0404) &amp; Ayush Naugariya (24BDS0076)   |   Slot D2   |   Slide 04 of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51E2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47548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38BDF8"/>
                </a:solidFill>
              </a:rPr>
              <a:t>[o] </a:t>
            </a:r>
            <a:r>
              <a:rPr sz="1300" b="1">
                <a:solidFill>
                  <a:srgbClr val="FFFFFF"/>
                </a:solidFill>
              </a:rPr>
              <a:t>The 6 Core Production Collections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1783080"/>
            <a:ext cx="4700016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050">
                <a:solidFill>
                  <a:srgbClr val="38BDF8"/>
                </a:solidFill>
              </a:rPr>
              <a:t>- users Collection: </a:t>
            </a:r>
            <a:r>
              <a:rPr sz="980">
                <a:solidFill>
                  <a:srgbClr val="CBD5E1"/>
                </a:solidFill>
              </a:rPr>
              <a:t>name, email (unique), password (Bcrypt 10 rounds), role ('admin' | 'faculty' | 'student'), createdAt. Handles authentication and RBAC enforcement.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8BDF8"/>
                </a:solidFill>
              </a:rPr>
              <a:t>- students Collection: </a:t>
            </a:r>
            <a:r>
              <a:rPr sz="980">
                <a:solidFill>
                  <a:srgbClr val="CBD5E1"/>
                </a:solidFill>
              </a:rPr>
              <a:t>regNo (unique), name, email, department, year, section ('D1' | 'D2'), semester. Indexed on { department: 1, section: 1 } for fast cohort retrieval.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8BDF8"/>
                </a:solidFill>
              </a:rPr>
              <a:t>- faculties Collection: </a:t>
            </a:r>
            <a:r>
              <a:rPr sz="980">
                <a:solidFill>
                  <a:srgbClr val="CBD5E1"/>
                </a:solidFill>
              </a:rPr>
              <a:t>facultyId (unique), name, email, department. Manages academic instructor profiles and departmental course linkages.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8BDF8"/>
                </a:solidFill>
              </a:rPr>
              <a:t>- subjects Collection: </a:t>
            </a:r>
            <a:r>
              <a:rPr sz="980">
                <a:solidFill>
                  <a:srgbClr val="CBD5E1"/>
                </a:solidFill>
              </a:rPr>
              <a:t>subjectCode (unique), subjectName, facultyId (ref: Faculty), semester, credits. Defines curriculum catalog and faculty assignment.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8BDF8"/>
                </a:solidFill>
              </a:rPr>
              <a:t>- classes Collection: </a:t>
            </a:r>
            <a:r>
              <a:rPr sz="980">
                <a:solidFill>
                  <a:srgbClr val="CBD5E1"/>
                </a:solidFill>
              </a:rPr>
              <a:t>subjectId (ref: Subject), facultyId (ref: Faculty), date, startTime, endTime, room. Manages lecture timetable scheduling.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8BDF8"/>
                </a:solidFill>
              </a:rPr>
              <a:t>- attendances Collection: </a:t>
            </a:r>
            <a:r>
              <a:rPr sz="980">
                <a:solidFill>
                  <a:srgbClr val="CBD5E1"/>
                </a:solidFill>
              </a:rPr>
              <a:t>classId (ref: Class), studentId (ref: Student), subjectId (ref: Subject), date, status ('Present' | 'Absent'), markedBy (ref: User). Compound indexed.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7552" y="5760720"/>
            <a:ext cx="4700016" cy="384048"/>
          </a:xfrm>
          <a:prstGeom prst="roundRect">
            <a:avLst>
              <a:gd name="adj" fmla="val 12000"/>
            </a:avLst>
          </a:prstGeom>
          <a:solidFill>
            <a:srgbClr val="1C273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>
              <a:defRPr sz="880" b="1">
                <a:solidFill>
                  <a:srgbClr val="38BDF8"/>
                </a:solidFill>
              </a:defRPr>
            </a:pPr>
            <a:r>
              <a:t>DATA INTEGRITY: Strict Mongoose ODM validation + 6 unique compound indexes across all collections.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51E2E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536192"/>
            <a:ext cx="47548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FBBF24"/>
                </a:solidFill>
              </a:rPr>
              <a:t>[o] </a:t>
            </a:r>
            <a:r>
              <a:rPr sz="1300" b="1">
                <a:solidFill>
                  <a:srgbClr val="FFFFFF"/>
                </a:solidFill>
              </a:rPr>
              <a:t>Design Pattern: Referencing vs. Embedding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783080"/>
            <a:ext cx="4700016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 b="1">
                <a:solidFill>
                  <a:srgbClr val="FBBF24"/>
                </a:solidFill>
              </a:defRPr>
            </a:pPr>
            <a:r>
              <a:t>MATHEMATICAL PROOF: AVOIDING THE 16MB BSON LIMIT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FFFF"/>
                </a:solidFill>
              </a:rPr>
              <a:t>- The 16MB Document Boundary: </a:t>
            </a:r>
            <a:r>
              <a:rPr sz="980">
                <a:solidFill>
                  <a:srgbClr val="CBD5E1"/>
                </a:solidFill>
              </a:rPr>
              <a:t>MongoDB enforces a strict hard ceiling of 16MB per individual document. Embedding attendance records inside the student document creates an unbounded array problem.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FFFF"/>
                </a:solidFill>
              </a:rPr>
              <a:t>- Growth Over Time: </a:t>
            </a:r>
            <a:r>
              <a:rPr sz="980">
                <a:solidFill>
                  <a:srgbClr val="CBD5E1"/>
                </a:solidFill>
              </a:rPr>
              <a:t>A 4-year degree consists of 8 semesters x 6 subjects = 48 subjects. With ~45 sessions per subject, each student accumulates over 2,160 attendance events (~540KB unbounded data).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FFFF"/>
                </a:solidFill>
              </a:rPr>
              <a:t>- Document Relocation on Disk: </a:t>
            </a:r>
            <a:r>
              <a:rPr sz="980">
                <a:solidFill>
                  <a:srgbClr val="CBD5E1"/>
                </a:solidFill>
              </a:rPr>
              <a:t>In WiredTiger, continuously growing embedded arrays cause documents to exceed pre-allocated disk space, triggering expensive document relocations and memory bloat.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FFFF"/>
                </a:solidFill>
              </a:rPr>
              <a:t>- The Normalized Referencing Solution: </a:t>
            </a:r>
            <a:r>
              <a:rPr sz="980">
                <a:solidFill>
                  <a:srgbClr val="CBD5E1"/>
                </a:solidFill>
              </a:rPr>
              <a:t>Storing attendance as individual documents linked via 12-byte ObjectId foreign keys keeps documents lightweight (~150 bytes), guarantees linear disk allocation, and scales horizontally.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FFFFF"/>
                </a:solidFill>
              </a:rPr>
              <a:t>- Multi-Dimensional Query Efficiency: </a:t>
            </a:r>
            <a:r>
              <a:rPr sz="980">
                <a:solidFill>
                  <a:srgbClr val="CBD5E1"/>
                </a:solidFill>
              </a:rPr>
              <a:t>Normalized records allow instant queries like 'all students absent for Subject X on Date Y' using B-Tree indexes, avoiding expensive collection-wide nested array scans.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3952" y="5760720"/>
            <a:ext cx="4700016" cy="384048"/>
          </a:xfrm>
          <a:prstGeom prst="roundRect">
            <a:avLst>
              <a:gd name="adj" fmla="val 12000"/>
            </a:avLst>
          </a:prstGeom>
          <a:solidFill>
            <a:srgbClr val="1C273A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>
              <a:defRPr sz="880" b="1">
                <a:solidFill>
                  <a:srgbClr val="FBBF24"/>
                </a:solidFill>
              </a:defRPr>
            </a:pPr>
            <a:r>
              <a:t>STORAGE MATHEMATICS: (48 subjects x 45 sessions x 250B) = 540 KB/student unbounded vs 150B normalized reference.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BACKEND ENGINEERING &amp; DATA ACCESS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Full-Stack CRUD Implementation &amp; Real-World Ingestion Scale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08415" y="384048"/>
            <a:ext cx="2651760" cy="365760"/>
          </a:xfrm>
          <a:prstGeom prst="roundRect">
            <a:avLst>
              <a:gd name="adj" fmla="val 25000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r>
              <a:t>DATA ACCESS &amp;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293852"/>
          </a:solidFill>
          <a:ln>
            <a:solidFill>
              <a:srgbClr val="29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SAMS - Enterprise Student Attendance Management System   |   Abhishek VS (24BCE0404) &amp; Ayush Naugariya (24BDS0076)   |   Slot D2   |   Slide 05 of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51E2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47548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38BDF8"/>
                </a:solidFill>
              </a:rPr>
              <a:t>[o] </a:t>
            </a:r>
            <a:r>
              <a:rPr sz="1300" b="1">
                <a:solidFill>
                  <a:srgbClr val="FFFFFF"/>
                </a:solidFill>
              </a:rPr>
              <a:t>Full-Stack RESTful CRUD Implementation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1783080"/>
            <a:ext cx="4700016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050">
                <a:solidFill>
                  <a:srgbClr val="38BDF8"/>
                </a:solidFill>
              </a:rPr>
              <a:t>- CREATE Operations (POST): </a:t>
            </a:r>
            <a:r>
              <a:rPr sz="980">
                <a:solidFill>
                  <a:srgbClr val="CBD5E1"/>
                </a:solidFill>
              </a:rPr>
              <a:t>High-throughput creation of lecture sessions and atomic bulk upserts for attendance via POST /api/attendance. Automatically normalizes incoming timestamps to UTC midnight (00:00:00.000Z).</a:t>
            </a:r>
          </a:p>
          <a:p>
            <a:pPr>
              <a:spcAft>
                <a:spcPts val="700"/>
              </a:spcAft>
            </a:pPr>
            <a:r>
              <a:rPr b="1" sz="1050">
                <a:solidFill>
                  <a:srgbClr val="38BDF8"/>
                </a:solidFill>
              </a:rPr>
              <a:t>- READ Operations (GET): </a:t>
            </a:r>
            <a:r>
              <a:rPr sz="980">
                <a:solidFill>
                  <a:srgbClr val="CBD5E1"/>
                </a:solidFill>
              </a:rPr>
              <a:t>Multi-parameter query filtering on GET /api/attendance across studentId, subjectId, date ranges ($gte/$lte), and status. Implements cursor limit safeguards and Mongoose .populate() for relational joins.</a:t>
            </a:r>
          </a:p>
          <a:p>
            <a:pPr>
              <a:spcAft>
                <a:spcPts val="700"/>
              </a:spcAft>
            </a:pPr>
            <a:r>
              <a:rPr b="1" sz="1050">
                <a:solidFill>
                  <a:srgbClr val="38BDF8"/>
                </a:solidFill>
              </a:rPr>
              <a:t>- UPDATE Operations (PUT): </a:t>
            </a:r>
            <a:r>
              <a:rPr sz="980">
                <a:solidFill>
                  <a:srgbClr val="CBD5E1"/>
                </a:solidFill>
              </a:rPr>
              <a:t>Instant in-place attendance status updates via PUT /api/attendance/:id and atomic subject/faculty modifications with full validation error propagation.</a:t>
            </a:r>
          </a:p>
          <a:p>
            <a:pPr>
              <a:spcAft>
                <a:spcPts val="700"/>
              </a:spcAft>
            </a:pPr>
            <a:r>
              <a:rPr b="1" sz="1050">
                <a:solidFill>
                  <a:srgbClr val="38BDF8"/>
                </a:solidFill>
              </a:rPr>
              <a:t>- DELETE Operations (DELETE): </a:t>
            </a:r>
            <a:r>
              <a:rPr sz="980">
                <a:solidFill>
                  <a:srgbClr val="CBD5E1"/>
                </a:solidFill>
              </a:rPr>
              <a:t>Referential cleanup for canceled class sessions and invalid attendance logs via DELETE /api/attendance/:id, returning confirmation status payloads.</a:t>
            </a:r>
          </a:p>
          <a:p>
            <a:pPr>
              <a:spcAft>
                <a:spcPts val="700"/>
              </a:spcAft>
            </a:pPr>
            <a:r>
              <a:rPr b="1" sz="1050">
                <a:solidFill>
                  <a:srgbClr val="38BDF8"/>
                </a:solidFill>
              </a:rPr>
              <a:t>- Schema Validation via Mongoose ODM: </a:t>
            </a:r>
            <a:r>
              <a:rPr sz="980">
                <a:solidFill>
                  <a:srgbClr val="CBD5E1"/>
                </a:solidFill>
              </a:rPr>
              <a:t>Enforces required field checks, email format validation, ObjectId casting, and strict enums (status: ['Present', 'Absent']). Rejects unvalidated payload fields.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7552" y="5760720"/>
            <a:ext cx="4700016" cy="384048"/>
          </a:xfrm>
          <a:prstGeom prst="roundRect">
            <a:avLst>
              <a:gd name="adj" fmla="val 12000"/>
            </a:avLst>
          </a:prstGeom>
          <a:solidFill>
            <a:srgbClr val="1C273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>
              <a:defRPr sz="880" b="1">
                <a:solidFill>
                  <a:srgbClr val="38BDF8"/>
                </a:solidFill>
              </a:defRPr>
            </a:pPr>
            <a:r>
              <a:t>REST API PROTOCOL: Centralized error middleware + automatic UTC midnight timestamp normalization.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51E2E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536192"/>
            <a:ext cx="47548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34D399"/>
                </a:solidFill>
              </a:rPr>
              <a:t>[o] </a:t>
            </a:r>
            <a:r>
              <a:rPr sz="1300" b="1">
                <a:solidFill>
                  <a:srgbClr val="FFFFFF"/>
                </a:solidFill>
              </a:rPr>
              <a:t>Automated Ingestion, Scale &amp; Multi-Tenant Scoping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783080"/>
            <a:ext cx="4700016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050">
                <a:solidFill>
                  <a:srgbClr val="34D399"/>
                </a:solidFill>
              </a:rPr>
              <a:t>- Automated Ingestion Engine (seed.js): </a:t>
            </a:r>
            <a:r>
              <a:rPr sz="980">
                <a:solidFill>
                  <a:srgbClr val="CBD5E1"/>
                </a:solidFill>
              </a:rPr>
              <a:t>Engineered an automated data generator that connects directly to MongoDB, purges stale collections, provisions Bcrypt-hashed credentials, and populates 60 students and 5 academic subjects.</a:t>
            </a:r>
          </a:p>
          <a:p>
            <a:pPr>
              <a:spcAft>
                <a:spcPts val="700"/>
              </a:spcAft>
            </a:pPr>
            <a:r>
              <a:rPr b="1" sz="1050">
                <a:solidFill>
                  <a:srgbClr val="34D399"/>
                </a:solidFill>
              </a:rPr>
              <a:t>- 2,640+ Realistic Primary Seed Records: </a:t>
            </a:r>
            <a:r>
              <a:rPr sz="980">
                <a:solidFill>
                  <a:srgbClr val="CBD5E1"/>
                </a:solidFill>
              </a:rPr>
              <a:t>Generates 25 consecutive instructional days of attendance across all enrolled subjects, delivering over 2,640 primary documents - modeling authentic full-semester academic volume.</a:t>
            </a:r>
          </a:p>
          <a:p>
            <a:pPr>
              <a:spcAft>
                <a:spcPts val="700"/>
              </a:spcAft>
            </a:pPr>
            <a:r>
              <a:rPr b="1" sz="1050">
                <a:solidFill>
                  <a:srgbClr val="34D399"/>
                </a:solidFill>
              </a:rPr>
              <a:t>- Realistic Behavioral Cohorts: </a:t>
            </a:r>
            <a:r>
              <a:rPr sz="980">
                <a:solidFill>
                  <a:srgbClr val="CBD5E1"/>
                </a:solidFill>
              </a:rPr>
              <a:t>Models genuine human attendance patterns: Top Attendees (90-95%), Average Cohorts (75-88%), and Chronic Defaulters (62-70%), ensuring analytical queries return real, actionable outliers.</a:t>
            </a:r>
          </a:p>
          <a:p>
            <a:pPr>
              <a:spcAft>
                <a:spcPts val="700"/>
              </a:spcAft>
            </a:pPr>
            <a:r>
              <a:rPr b="1" sz="1050">
                <a:solidFill>
                  <a:srgbClr val="34D399"/>
                </a:solidFill>
              </a:rPr>
              <a:t>- 3-Tier Multi-Tenant Data Isolation: </a:t>
            </a:r>
            <a:r>
              <a:rPr sz="980">
                <a:solidFill>
                  <a:srgbClr val="CBD5E1"/>
                </a:solidFill>
              </a:rPr>
              <a:t>Students strictly isolated to personal attendance records; 4th navigation ('Analytics &amp; Reports') hidden from student UI; faculty course-scoped; admin global access.</a:t>
            </a:r>
          </a:p>
          <a:p>
            <a:pPr>
              <a:spcAft>
                <a:spcPts val="700"/>
              </a:spcAft>
            </a:pPr>
            <a:r>
              <a:rPr b="1" sz="1050">
                <a:solidFill>
                  <a:srgbClr val="34D399"/>
                </a:solidFill>
              </a:rPr>
              <a:t>- 52,000+ Scalability Stress Dataset: </a:t>
            </a:r>
            <a:r>
              <a:rPr sz="980">
                <a:solidFill>
                  <a:srgbClr val="CBD5E1"/>
                </a:solidFill>
              </a:rPr>
              <a:t>Constructed an extended stress-testing script generating 52,000+ attendance records to empirically measure index selectivity, memory cache consumption, and execution plan transitions.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3952" y="5760720"/>
            <a:ext cx="4700016" cy="384048"/>
          </a:xfrm>
          <a:prstGeom prst="roundRect">
            <a:avLst>
              <a:gd name="adj" fmla="val 12000"/>
            </a:avLst>
          </a:prstGeom>
          <a:solidFill>
            <a:srgbClr val="1C273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>
              <a:defRPr sz="880" b="1">
                <a:solidFill>
                  <a:srgbClr val="34D399"/>
                </a:solidFill>
              </a:defRPr>
            </a:pPr>
            <a:r>
              <a:t>ROLE-BASED SECURITY: Route guards strictly enforce HTTP 403 on unauthorized student access.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HIGH-PERFORMANCE DATABASE ENGINEERING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Database Optimization — Atomic bulkWrite() &amp; Compound Indexing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08415" y="384048"/>
            <a:ext cx="2651760" cy="365760"/>
          </a:xfrm>
          <a:prstGeom prst="roundRect">
            <a:avLst>
              <a:gd name="adj" fmla="val 25000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r>
              <a:t>PERFORMANCE OPTIMIZATION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293852"/>
          </a:solidFill>
          <a:ln>
            <a:solidFill>
              <a:srgbClr val="29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SAMS - Enterprise Student Attendance Management System   |   Abhishek VS (24BCE0404) &amp; Ayush Naugariya (24BDS0076)   |   Slot D2   |   Slide 06 of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51E2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47548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38BDF8"/>
                </a:solidFill>
              </a:rPr>
              <a:t>[o] </a:t>
            </a:r>
            <a:r>
              <a:rPr sz="1300" b="1">
                <a:solidFill>
                  <a:srgbClr val="FFFFFF"/>
                </a:solidFill>
              </a:rPr>
              <a:t>Atomic bulkWrite() Batch Upsert Protocol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1783080"/>
            <a:ext cx="4700016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050">
                <a:solidFill>
                  <a:srgbClr val="38BDF8"/>
                </a:solidFill>
              </a:rPr>
              <a:t>- The Loop of save() Anti-Pattern: </a:t>
            </a:r>
            <a:r>
              <a:rPr sz="980">
                <a:solidFill>
                  <a:srgbClr val="CBD5E1"/>
                </a:solidFill>
              </a:rPr>
              <a:t>Sequential execution of 60 individual save() calls sends 60 separate TCP packets over the wire, consuming ~1,500ms and starving the Node.js libuv threadpool and MongoDB connection pool.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8BDF8"/>
                </a:solidFill>
              </a:rPr>
              <a:t>- The bulkWrite() Architecture: </a:t>
            </a:r>
            <a:r>
              <a:rPr sz="980">
                <a:solidFill>
                  <a:srgbClr val="CBD5E1"/>
                </a:solidFill>
              </a:rPr>
              <a:t>Compiles all 60 student status updates into a single atomic array of updateOne operations sent in one TCP wire protocol packet: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8BDF8"/>
                </a:solidFill>
              </a:rPr>
              <a:t>- Production Code Implementation: </a:t>
            </a:r>
            <a:r>
              <a:rPr sz="900">
                <a:solidFill>
                  <a:srgbClr val="FBBF24"/>
                </a:solidFill>
              </a:rPr>
              <a:t>Attendance.bulkWrite(records.map(r =&gt; ({
  updateOne: {
    filter: { studentId: r.studentId, subjectId: r.subjectId, date: normalizedDate },
    update: { $set: { status: r.status, classId: r.classId, markedBy: req.user.id } },
    upsert: true
  }
})))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8BDF8"/>
                </a:solidFill>
              </a:rPr>
              <a:t>- Sub-12ms Execution Latency: </a:t>
            </a:r>
            <a:r>
              <a:rPr sz="980">
                <a:solidFill>
                  <a:srgbClr val="CBD5E1"/>
                </a:solidFill>
              </a:rPr>
              <a:t>Reduces execution time from 1,500ms to &lt; 12ms (over 125x faster), releasing database locks almost instantaneously.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8BDF8"/>
                </a:solidFill>
              </a:rPr>
              <a:t>- Idempotency &amp; Duplicate Prevention: </a:t>
            </a:r>
            <a:r>
              <a:rPr sz="980">
                <a:solidFill>
                  <a:srgbClr val="CBD5E1"/>
                </a:solidFill>
              </a:rPr>
              <a:t>The { upsert: true } flag combined with the composite filter guarantees that multiple clicks by an instructor update existing records rather than creating duplicate rows.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7552" y="5760720"/>
            <a:ext cx="4700016" cy="384048"/>
          </a:xfrm>
          <a:prstGeom prst="roundRect">
            <a:avLst>
              <a:gd name="adj" fmla="val 12000"/>
            </a:avLst>
          </a:prstGeom>
          <a:solidFill>
            <a:srgbClr val="1C273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>
              <a:defRPr sz="880" b="1">
                <a:solidFill>
                  <a:srgbClr val="38BDF8"/>
                </a:solidFill>
              </a:defRPr>
            </a:pPr>
            <a:r>
              <a:t>PERFORMANCE BENCHMARK: Over 125x faster than sequential save loops (&lt;12ms vs 1,500ms).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51E2E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536192"/>
            <a:ext cx="47548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34D399"/>
                </a:solidFill>
              </a:rPr>
              <a:t>[o] </a:t>
            </a:r>
            <a:r>
              <a:rPr sz="1300" b="1">
                <a:solidFill>
                  <a:srgbClr val="FFFFFF"/>
                </a:solidFill>
              </a:rPr>
              <a:t>Compound Indexing &amp; 50,000-Doc Benchmark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783080"/>
            <a:ext cx="470001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34D399"/>
                </a:solidFill>
              </a:defRPr>
            </a:pPr>
            <a:r>
              <a:t>THE ESR (EQUALITY, SORT, RANGE) RULE</a:t>
            </a:r>
          </a:p>
          <a:p>
            <a:pPr>
              <a:defRPr sz="980">
                <a:solidFill>
                  <a:srgbClr val="CBD5E1"/>
                </a:solidFill>
              </a:defRPr>
            </a:pPr>
            <a:r>
              <a:t>Our primary compound index { studentId: 1, subjectId: 1, date: 1 } strictly adheres to the ESR rule: exact matches (studentId, subjectId) come first, followed by Range filters (date), ensuring optimal B-Tree branch traversal.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3952" y="2880360"/>
            <a:ext cx="2148840" cy="777240"/>
          </a:xfrm>
          <a:prstGeom prst="roundRect">
            <a:avLst>
              <a:gd name="adj" fmla="val 10000"/>
            </a:avLst>
          </a:prstGeom>
          <a:solidFill>
            <a:srgbClr val="1C273A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944368"/>
            <a:ext cx="1929384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500" b="1">
                <a:solidFill>
                  <a:srgbClr val="34D399"/>
                </a:solidFill>
              </a:defRPr>
            </a:pPr>
            <a:r>
              <a:t>71x</a:t>
            </a:r>
          </a:p>
          <a:p>
            <a:pPr>
              <a:defRPr sz="800" b="1">
                <a:solidFill>
                  <a:srgbClr val="94A3B8"/>
                </a:solidFill>
              </a:defRPr>
            </a:pPr>
            <a:r>
              <a:t>QUERY SPEEDUP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32520" y="2880360"/>
            <a:ext cx="2148840" cy="777240"/>
          </a:xfrm>
          <a:prstGeom prst="roundRect">
            <a:avLst>
              <a:gd name="adj" fmla="val 10000"/>
            </a:avLst>
          </a:prstGeom>
          <a:solidFill>
            <a:srgbClr val="1C273A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42248" y="2944368"/>
            <a:ext cx="1929384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500" b="1">
                <a:solidFill>
                  <a:srgbClr val="38BDF8"/>
                </a:solidFill>
              </a:defRPr>
            </a:pPr>
            <a:r>
              <a:t>99.99%</a:t>
            </a:r>
          </a:p>
          <a:p>
            <a:pPr>
              <a:defRPr sz="800" b="1">
                <a:solidFill>
                  <a:srgbClr val="94A3B8"/>
                </a:solidFill>
              </a:defRPr>
            </a:pPr>
            <a:r>
              <a:t>FEWER DOCS EXAMINED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3794760"/>
            <a:ext cx="4700016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FFFFFF"/>
                </a:solidFill>
              </a:defRPr>
            </a:pPr>
            <a:r>
              <a:t>EMPIRICAL BENCHMARK METRICS (50,000 DOCUMENTS):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38BDF8"/>
                </a:solidFill>
              </a:rPr>
              <a:t>- Query Execution Plan: </a:t>
            </a:r>
            <a:r>
              <a:rPr sz="930">
                <a:solidFill>
                  <a:srgbClr val="CBD5E1"/>
                </a:solidFill>
              </a:rPr>
              <a:t>Without Index: COLLSCAN  |  With Compound Index: IXSCAN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38BDF8"/>
                </a:solidFill>
              </a:rPr>
              <a:t>- Total Documents Examined: </a:t>
            </a:r>
            <a:r>
              <a:rPr sz="930">
                <a:solidFill>
                  <a:srgbClr val="CBD5E1"/>
                </a:solidFill>
              </a:rPr>
              <a:t>Without Index: 50,000 docs  |  With Index: 3 docs (99.994% reduction)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38BDF8"/>
                </a:solidFill>
              </a:rPr>
              <a:t>- Query Execution Latency: </a:t>
            </a:r>
            <a:r>
              <a:rPr sz="930">
                <a:solidFill>
                  <a:srgbClr val="CBD5E1"/>
                </a:solidFill>
              </a:rPr>
              <a:t>Without Index: 28.4 ms  |  With Index: 0.4 ms (71x Speedup)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38BDF8"/>
                </a:solidFill>
              </a:rPr>
              <a:t>- In-Memory Sort Buffers: </a:t>
            </a:r>
            <a:r>
              <a:rPr sz="930">
                <a:solidFill>
                  <a:srgbClr val="CBD5E1"/>
                </a:solidFill>
              </a:rPr>
              <a:t>Without Index: Yes (RAM buffer)  |  With Index: Zero RAM allocated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38BDF8"/>
                </a:solidFill>
              </a:rPr>
              <a:t>- Overall Index Catalog: </a:t>
            </a:r>
            <a:r>
              <a:rPr sz="930">
                <a:solidFill>
                  <a:srgbClr val="CBD5E1"/>
                </a:solidFill>
              </a:rPr>
              <a:t>6 B-Trees deployed across users, students, subjects, and attendances.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73952" y="5760720"/>
            <a:ext cx="4700016" cy="384048"/>
          </a:xfrm>
          <a:prstGeom prst="roundRect">
            <a:avLst>
              <a:gd name="adj" fmla="val 12000"/>
            </a:avLst>
          </a:prstGeom>
          <a:solidFill>
            <a:srgbClr val="1C273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>
              <a:defRPr sz="880" b="1">
                <a:solidFill>
                  <a:srgbClr val="34D399"/>
                </a:solidFill>
              </a:defRPr>
            </a:pPr>
            <a:r>
              <a:t>INDEX CATALOG: 6 active B-Tree compound indexes deployed across all 6 collections.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IN-ENGINE ANALYTICAL PROCESSING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Advanced Analytics — 7 Native In-Engine Aggregation Pipelines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08415" y="384048"/>
            <a:ext cx="2651760" cy="365760"/>
          </a:xfrm>
          <a:prstGeom prst="roundRect">
            <a:avLst>
              <a:gd name="adj" fmla="val 25000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r>
              <a:t>INSTITUTIONAL INTELLIGENCE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293852"/>
          </a:solidFill>
          <a:ln>
            <a:solidFill>
              <a:srgbClr val="29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SAMS - Enterprise Student Attendance Management System   |   Abhishek VS (24BCE0404) &amp; Ayush Naugariya (24BDS0076)   |   Slot D2   |   Slide 07 of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3413455" cy="4892040"/>
          </a:xfrm>
          <a:prstGeom prst="roundRect">
            <a:avLst>
              <a:gd name="adj" fmla="val 4000"/>
            </a:avLst>
          </a:prstGeom>
          <a:solidFill>
            <a:srgbClr val="151E2E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29562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F43F5E"/>
                </a:solidFill>
              </a:rPr>
              <a:t>[o] </a:t>
            </a:r>
            <a:r>
              <a:rPr sz="1300" b="1">
                <a:solidFill>
                  <a:srgbClr val="FFFFFF"/>
                </a:solidFill>
              </a:rPr>
              <a:t>Pipeline 1: Defaulters (&lt;75%)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783080"/>
            <a:ext cx="3008376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F43F5E"/>
                </a:solidFill>
              </a:defRPr>
            </a:pPr>
            <a:r>
              <a:t>GET /api/analytics/low-attendance?threshold=75</a:t>
            </a:r>
          </a:p>
          <a:p>
            <a:pPr>
              <a:spcAft>
                <a:spcPts val="500"/>
              </a:spcAft>
            </a:pPr>
            <a:r>
              <a:rPr b="1" sz="980">
                <a:solidFill>
                  <a:srgbClr val="FFFFFF"/>
                </a:solidFill>
              </a:rPr>
              <a:t>Stage 1 ($group): </a:t>
            </a:r>
            <a:r>
              <a:rPr sz="919">
                <a:solidFill>
                  <a:srgbClr val="CBD5E1"/>
                </a:solidFill>
              </a:rPr>
              <a:t>Groups attendance by studentId; calculates total and present classes.</a:t>
            </a:r>
          </a:p>
          <a:p>
            <a:pPr>
              <a:spcAft>
                <a:spcPts val="500"/>
              </a:spcAft>
            </a:pPr>
            <a:r>
              <a:rPr b="1" sz="980">
                <a:solidFill>
                  <a:srgbClr val="FFFFFF"/>
                </a:solidFill>
              </a:rPr>
              <a:t>Stage 2 ($project): </a:t>
            </a:r>
            <a:r>
              <a:rPr sz="919">
                <a:solidFill>
                  <a:srgbClr val="CBD5E1"/>
                </a:solidFill>
              </a:rPr>
              <a:t>Computes percentage using $round, $multiply, and $divide operators.</a:t>
            </a:r>
          </a:p>
          <a:p>
            <a:pPr>
              <a:spcAft>
                <a:spcPts val="500"/>
              </a:spcAft>
            </a:pPr>
            <a:r>
              <a:rPr b="1" sz="980">
                <a:solidFill>
                  <a:srgbClr val="FFFFFF"/>
                </a:solidFill>
              </a:rPr>
              <a:t>Stage 3 ($match): </a:t>
            </a:r>
            <a:r>
              <a:rPr sz="919">
                <a:solidFill>
                  <a:srgbClr val="CBD5E1"/>
                </a:solidFill>
              </a:rPr>
              <a:t>Filters output documents where percentage is less than 75% threshold.</a:t>
            </a:r>
          </a:p>
          <a:p>
            <a:pPr>
              <a:spcAft>
                <a:spcPts val="500"/>
              </a:spcAft>
            </a:pPr>
            <a:r>
              <a:rPr b="1" sz="980">
                <a:solidFill>
                  <a:srgbClr val="FFFFFF"/>
                </a:solidFill>
              </a:rPr>
              <a:t>Stage 4 ($lookup): </a:t>
            </a:r>
            <a:r>
              <a:rPr sz="919">
                <a:solidFill>
                  <a:srgbClr val="CBD5E1"/>
                </a:solidFill>
              </a:rPr>
              <a:t>Performs equality join with students to fetch student names and regNo.</a:t>
            </a:r>
          </a:p>
          <a:p>
            <a:pPr>
              <a:spcAft>
                <a:spcPts val="500"/>
              </a:spcAft>
            </a:pPr>
            <a:r>
              <a:rPr b="1" sz="980">
                <a:solidFill>
                  <a:srgbClr val="FFFFFF"/>
                </a:solidFill>
              </a:rPr>
              <a:t>Stage 5 ($sort): </a:t>
            </a:r>
            <a:r>
              <a:rPr sz="919">
                <a:solidFill>
                  <a:srgbClr val="CBD5E1"/>
                </a:solidFill>
              </a:rPr>
              <a:t>Sorts ascending so the most critical defaulters appear at the top.</a:t>
            </a:r>
          </a:p>
          <a:p>
            <a:pPr>
              <a:spcBef>
                <a:spcPts val="600"/>
              </a:spcBef>
            </a:pPr>
            <a:r>
              <a:rPr b="1" sz="919">
                <a:solidFill>
                  <a:srgbClr val="F43F5E"/>
                </a:solidFill>
              </a:rPr>
              <a:t>Impact: Replaces weeks of manual audits with an automated institutional warning 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" y="5760720"/>
            <a:ext cx="3081528" cy="384048"/>
          </a:xfrm>
          <a:prstGeom prst="roundRect">
            <a:avLst>
              <a:gd name="adj" fmla="val 12000"/>
            </a:avLst>
          </a:prstGeom>
          <a:solidFill>
            <a:srgbClr val="1C273A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>
              <a:defRPr sz="880" b="1">
                <a:solidFill>
                  <a:srgbClr val="F43F5E"/>
                </a:solidFill>
              </a:defRPr>
            </a:pPr>
            <a:r>
              <a:t>EARLY WARNING SYSTEM: Automated real-time debarment risk identification.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371600"/>
            <a:ext cx="3413455" cy="4892040"/>
          </a:xfrm>
          <a:prstGeom prst="roundRect">
            <a:avLst>
              <a:gd name="adj" fmla="val 4000"/>
            </a:avLst>
          </a:prstGeom>
          <a:solidFill>
            <a:srgbClr val="151E2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536192"/>
            <a:ext cx="29562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38BDF8"/>
                </a:solidFill>
              </a:rPr>
              <a:t>[o] </a:t>
            </a:r>
            <a:r>
              <a:rPr sz="1300" b="1">
                <a:solidFill>
                  <a:srgbClr val="FFFFFF"/>
                </a:solidFill>
              </a:rPr>
              <a:t>Pipeline 2: Course Variance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1783080"/>
            <a:ext cx="3008376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38BDF8"/>
                </a:solidFill>
              </a:defRPr>
            </a:pPr>
            <a:r>
              <a:t>GET /api/analytics/subject-percentage</a:t>
            </a:r>
          </a:p>
          <a:p>
            <a:pPr>
              <a:spcAft>
                <a:spcPts val="500"/>
              </a:spcAft>
            </a:pPr>
            <a:r>
              <a:rPr b="1" sz="980">
                <a:solidFill>
                  <a:srgbClr val="FFFFFF"/>
                </a:solidFill>
              </a:rPr>
              <a:t>Stage 1 ($group): </a:t>
            </a:r>
            <a:r>
              <a:rPr sz="919">
                <a:solidFill>
                  <a:srgbClr val="CBD5E1"/>
                </a:solidFill>
              </a:rPr>
              <a:t>Groups by subjectId; sums total, present, and absent sessions.</a:t>
            </a:r>
          </a:p>
          <a:p>
            <a:pPr>
              <a:spcAft>
                <a:spcPts val="500"/>
              </a:spcAft>
            </a:pPr>
            <a:r>
              <a:rPr b="1" sz="980">
                <a:solidFill>
                  <a:srgbClr val="FFFFFF"/>
                </a:solidFill>
              </a:rPr>
              <a:t>Stage 2 ($project): </a:t>
            </a:r>
            <a:r>
              <a:rPr sz="919">
                <a:solidFill>
                  <a:srgbClr val="CBD5E1"/>
                </a:solidFill>
              </a:rPr>
              <a:t>Computes average attendance percentage per subject in database.</a:t>
            </a:r>
          </a:p>
          <a:p>
            <a:pPr>
              <a:spcAft>
                <a:spcPts val="500"/>
              </a:spcAft>
            </a:pPr>
            <a:r>
              <a:rPr b="1" sz="980">
                <a:solidFill>
                  <a:srgbClr val="FFFFFF"/>
                </a:solidFill>
              </a:rPr>
              <a:t>Stage 3 ($lookup): </a:t>
            </a:r>
            <a:r>
              <a:rPr sz="919">
                <a:solidFill>
                  <a:srgbClr val="CBD5E1"/>
                </a:solidFill>
              </a:rPr>
              <a:t>Joins with subjects collection to retrieve subjectCode and credits.</a:t>
            </a:r>
          </a:p>
          <a:p>
            <a:pPr>
              <a:spcAft>
                <a:spcPts val="500"/>
              </a:spcAft>
            </a:pPr>
            <a:r>
              <a:rPr b="1" sz="980">
                <a:solidFill>
                  <a:srgbClr val="FFFFFF"/>
                </a:solidFill>
              </a:rPr>
              <a:t>Stage 4 ($unwind): </a:t>
            </a:r>
            <a:r>
              <a:rPr sz="919">
                <a:solidFill>
                  <a:srgbClr val="CBD5E1"/>
                </a:solidFill>
              </a:rPr>
              <a:t>Flattens the subjectInfo array into an embedded object.</a:t>
            </a:r>
          </a:p>
          <a:p>
            <a:pPr>
              <a:spcAft>
                <a:spcPts val="500"/>
              </a:spcAft>
            </a:pPr>
            <a:r>
              <a:rPr b="1" sz="980">
                <a:solidFill>
                  <a:srgbClr val="FFFFFF"/>
                </a:solidFill>
              </a:rPr>
              <a:t>Stage 5 ($sort): </a:t>
            </a:r>
            <a:r>
              <a:rPr sz="919">
                <a:solidFill>
                  <a:srgbClr val="CBD5E1"/>
                </a:solidFill>
              </a:rPr>
              <a:t>Sorts descending by attendance percentage for comparative ranking.</a:t>
            </a:r>
          </a:p>
          <a:p>
            <a:pPr>
              <a:spcBef>
                <a:spcPts val="600"/>
              </a:spcBef>
            </a:pPr>
            <a:r>
              <a:rPr b="1" sz="919">
                <a:solidFill>
                  <a:srgbClr val="38BDF8"/>
                </a:solidFill>
              </a:rPr>
              <a:t>Impact: Highlights subjects suffering from abnormal absenteeism for dean intervention.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53712" y="5760720"/>
            <a:ext cx="3081528" cy="384048"/>
          </a:xfrm>
          <a:prstGeom prst="roundRect">
            <a:avLst>
              <a:gd name="adj" fmla="val 12000"/>
            </a:avLst>
          </a:prstGeom>
          <a:solidFill>
            <a:srgbClr val="1C273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>
              <a:defRPr sz="880" b="1">
                <a:solidFill>
                  <a:srgbClr val="38BDF8"/>
                </a:solidFill>
              </a:defRPr>
            </a:pPr>
            <a:r>
              <a:t>ACADEMIC INTELLIGENCE: Identifies subject absenteeism trends in database RAM.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371600"/>
            <a:ext cx="3413455" cy="4892040"/>
          </a:xfrm>
          <a:prstGeom prst="roundRect">
            <a:avLst>
              <a:gd name="adj" fmla="val 4000"/>
            </a:avLst>
          </a:prstGeom>
          <a:solidFill>
            <a:srgbClr val="151E2E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536192"/>
            <a:ext cx="29562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34D399"/>
                </a:solidFill>
              </a:rPr>
              <a:t>[o] </a:t>
            </a:r>
            <a:r>
              <a:rPr sz="1300" b="1">
                <a:solidFill>
                  <a:srgbClr val="FFFFFF"/>
                </a:solidFill>
              </a:rPr>
              <a:t>Pipelines 3-7: Multi-Cohort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1783080"/>
            <a:ext cx="3008376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 b="1">
                <a:solidFill>
                  <a:srgbClr val="34D399"/>
                </a:solidFill>
              </a:defRPr>
            </a:pPr>
            <a:r>
              <a:t>GET /api/analytics/daily-stats &amp; section-stats</a:t>
            </a:r>
          </a:p>
          <a:p>
            <a:pPr>
              <a:spcAft>
                <a:spcPts val="500"/>
              </a:spcAft>
            </a:pPr>
            <a:r>
              <a:rPr b="1" sz="980">
                <a:solidFill>
                  <a:srgbClr val="FFFFFF"/>
                </a:solidFill>
              </a:rPr>
              <a:t>Pipeline 3 (Daily Trends): </a:t>
            </a:r>
            <a:r>
              <a:rPr sz="919">
                <a:solidFill>
                  <a:srgbClr val="CBD5E1"/>
                </a:solidFill>
              </a:rPr>
              <a:t>$dateToString grouping calculates attendance rate per calendar date.</a:t>
            </a:r>
          </a:p>
          <a:p>
            <a:pPr>
              <a:spcAft>
                <a:spcPts val="500"/>
              </a:spcAft>
            </a:pPr>
            <a:r>
              <a:rPr b="1" sz="980">
                <a:solidFill>
                  <a:srgbClr val="FFFFFF"/>
                </a:solidFill>
              </a:rPr>
              <a:t>Pipeline 4 (Monthly Progression): </a:t>
            </a:r>
            <a:r>
              <a:rPr sz="919">
                <a:solidFill>
                  <a:srgbClr val="CBD5E1"/>
                </a:solidFill>
              </a:rPr>
              <a:t>Extracts $year &amp; $month to chart semester longitudinal trends.</a:t>
            </a:r>
          </a:p>
          <a:p>
            <a:pPr>
              <a:spcAft>
                <a:spcPts val="500"/>
              </a:spcAft>
            </a:pPr>
            <a:r>
              <a:rPr b="1" sz="980">
                <a:solidFill>
                  <a:srgbClr val="FFFFFF"/>
                </a:solidFill>
              </a:rPr>
              <a:t>Pipeline 5 (Section Matrix): </a:t>
            </a:r>
            <a:r>
              <a:rPr sz="919">
                <a:solidFill>
                  <a:srgbClr val="CBD5E1"/>
                </a:solidFill>
              </a:rPr>
              <a:t>Groups attendance by section ('D1' vs 'D2') for cohort comparison.</a:t>
            </a:r>
          </a:p>
          <a:p>
            <a:pPr>
              <a:spcAft>
                <a:spcPts val="500"/>
              </a:spcAft>
            </a:pPr>
            <a:r>
              <a:rPr b="1" sz="980">
                <a:solidFill>
                  <a:srgbClr val="FFFFFF"/>
                </a:solidFill>
              </a:rPr>
              <a:t>Pipeline 6 (Overall Stats): </a:t>
            </a:r>
            <a:r>
              <a:rPr sz="919">
                <a:solidFill>
                  <a:srgbClr val="CBD5E1"/>
                </a:solidFill>
              </a:rPr>
              <a:t>Single-pass institutional KPI calculation across all records.</a:t>
            </a:r>
          </a:p>
          <a:p>
            <a:pPr>
              <a:spcAft>
                <a:spcPts val="500"/>
              </a:spcAft>
            </a:pPr>
            <a:r>
              <a:rPr b="1" sz="980">
                <a:solidFill>
                  <a:srgbClr val="FFFFFF"/>
                </a:solidFill>
              </a:rPr>
              <a:t>Pipeline 7 (Student Breakdown): </a:t>
            </a:r>
            <a:r>
              <a:rPr sz="919">
                <a:solidFill>
                  <a:srgbClr val="CBD5E1"/>
                </a:solidFill>
              </a:rPr>
              <a:t>Course-wise personal breakdown for logged-in student portal.</a:t>
            </a:r>
          </a:p>
          <a:p>
            <a:pPr>
              <a:spcBef>
                <a:spcPts val="600"/>
              </a:spcBef>
            </a:pPr>
            <a:r>
              <a:rPr b="1" sz="919">
                <a:solidFill>
                  <a:srgbClr val="34D399"/>
                </a:solidFill>
              </a:rPr>
              <a:t>Impact: Powers time-series analytics charts to detect attendance dips near exam periods.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11312" y="5760720"/>
            <a:ext cx="3081528" cy="384048"/>
          </a:xfrm>
          <a:prstGeom prst="roundRect">
            <a:avLst>
              <a:gd name="adj" fmla="val 12000"/>
            </a:avLst>
          </a:prstGeom>
          <a:solidFill>
            <a:srgbClr val="1C273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>
              <a:defRPr sz="880" b="1">
                <a:solidFill>
                  <a:srgbClr val="34D399"/>
                </a:solidFill>
              </a:defRPr>
            </a:pPr>
            <a:r>
              <a:t>ANALYTICAL RIGOR: 7 distinct aggregation pipelines executed directly in database memory.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FRONTEND ARCHITECTURE &amp; HCI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Responsive Presentation Layer, HCI &amp; Real-Time Dashboards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08415" y="384048"/>
            <a:ext cx="2651760" cy="365760"/>
          </a:xfrm>
          <a:prstGeom prst="roundRect">
            <a:avLst>
              <a:gd name="adj" fmla="val 25000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r>
              <a:t>UI &amp; USABILITY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293852"/>
          </a:solidFill>
          <a:ln>
            <a:solidFill>
              <a:srgbClr val="29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SAMS - Enterprise Student Attendance Management System   |   Abhishek VS (24BCE0404) &amp; Ayush Naugariya (24BDS0076)   |   Slot D2   |   Slide 08 of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51E2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47548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38BDF8"/>
                </a:solidFill>
              </a:rPr>
              <a:t>[o] </a:t>
            </a:r>
            <a:r>
              <a:rPr sz="1300" b="1">
                <a:solidFill>
                  <a:srgbClr val="FFFFFF"/>
                </a:solidFill>
              </a:rPr>
              <a:t>Persona-Tailored Academic Workflows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1783080"/>
            <a:ext cx="4700016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050">
                <a:solidFill>
                  <a:srgbClr val="38BDF8"/>
                </a:solidFill>
              </a:rPr>
              <a:t>- Interactive Faculty Attendance Matrix: </a:t>
            </a:r>
            <a:r>
              <a:rPr sz="980">
                <a:solidFill>
                  <a:srgbClr val="CBD5E1"/>
                </a:solidFill>
              </a:rPr>
              <a:t>Eliminates tedious individual clicking with 'Mark All Present' and 'Mark All Absent' batch toggles. Color-coded status pills (Green = Present, Red = Absent) provide instant visual validation.</a:t>
            </a:r>
          </a:p>
          <a:p>
            <a:pPr>
              <a:spcAft>
                <a:spcPts val="700"/>
              </a:spcAft>
            </a:pPr>
            <a:r>
              <a:rPr b="1" sz="1050">
                <a:solidFill>
                  <a:srgbClr val="38BDF8"/>
                </a:solidFill>
              </a:rPr>
              <a:t>- Executive Dean Dashboard: </a:t>
            </a:r>
            <a:r>
              <a:rPr sz="980">
                <a:solidFill>
                  <a:srgbClr val="CBD5E1"/>
                </a:solidFill>
              </a:rPr>
              <a:t>Renders high-level institutional KPI cards (Total Students, Active Faculty, Registered Subjects, Overall Attendance Rate) alongside dynamic Chart.js bar and line graphs.</a:t>
            </a:r>
          </a:p>
          <a:p>
            <a:pPr>
              <a:spcAft>
                <a:spcPts val="700"/>
              </a:spcAft>
            </a:pPr>
            <a:r>
              <a:rPr b="1" sz="1050">
                <a:solidFill>
                  <a:srgbClr val="38BDF8"/>
                </a:solidFill>
              </a:rPr>
              <a:t>- Proactive Defaulter Warning Console: </a:t>
            </a:r>
            <a:r>
              <a:rPr sz="980">
                <a:solidFill>
                  <a:srgbClr val="CBD5E1"/>
                </a:solidFill>
              </a:rPr>
              <a:t>Interactive filter slider dynamically adjusts the compliance threshold (e.g., 75%, 80%) and updates the defaulter table in real-time with one-click CSV export.</a:t>
            </a:r>
          </a:p>
          <a:p>
            <a:pPr>
              <a:spcAft>
                <a:spcPts val="700"/>
              </a:spcAft>
            </a:pPr>
            <a:r>
              <a:rPr b="1" sz="1050">
                <a:solidFill>
                  <a:srgbClr val="38BDF8"/>
                </a:solidFill>
              </a:rPr>
              <a:t>- Student Restricted Self-Service Portal: </a:t>
            </a:r>
            <a:r>
              <a:rPr sz="980">
                <a:solidFill>
                  <a:srgbClr val="CBD5E1"/>
                </a:solidFill>
              </a:rPr>
              <a:t>Course-wise attendance cards with personal debarment risk alerts; 4th navigation ('Analytics &amp; Reports') is hidden from student UI and protected by server 403 guard.</a:t>
            </a:r>
          </a:p>
          <a:p>
            <a:pPr>
              <a:spcAft>
                <a:spcPts val="700"/>
              </a:spcAft>
            </a:pPr>
            <a:r>
              <a:rPr b="1" sz="1050">
                <a:solidFill>
                  <a:srgbClr val="38BDF8"/>
                </a:solidFill>
              </a:rPr>
              <a:t>- 100% Mobile &amp; Podium Responsive: </a:t>
            </a:r>
            <a:r>
              <a:rPr sz="980">
                <a:solidFill>
                  <a:srgbClr val="CBD5E1"/>
                </a:solidFill>
              </a:rPr>
              <a:t>Fluid Tailwind CSS flexbox and grid layouts adapt seamlessly from faculty mobile smartphones to wide-screen lecture podiums.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7552" y="5760720"/>
            <a:ext cx="4700016" cy="384048"/>
          </a:xfrm>
          <a:prstGeom prst="roundRect">
            <a:avLst>
              <a:gd name="adj" fmla="val 12000"/>
            </a:avLst>
          </a:prstGeom>
          <a:solidFill>
            <a:srgbClr val="1C273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>
              <a:defRPr sz="880" b="1">
                <a:solidFill>
                  <a:srgbClr val="38BDF8"/>
                </a:solidFill>
              </a:defRPr>
            </a:pPr>
            <a:r>
              <a:t>HCI EXCELLENCE: Zero cognitive fatigue with real-time feedback and role-tailored viewports.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51E2E"/>
          </a:solidFill>
          <a:ln w="1524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536192"/>
            <a:ext cx="47548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60A5FA"/>
                </a:solidFill>
              </a:rPr>
              <a:t>[o] </a:t>
            </a:r>
            <a:r>
              <a:rPr sz="1300" b="1">
                <a:solidFill>
                  <a:srgbClr val="FFFFFF"/>
                </a:solidFill>
              </a:rPr>
              <a:t>Frontend Architectural Rigor &amp; State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783080"/>
            <a:ext cx="4700016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050">
                <a:solidFill>
                  <a:srgbClr val="60A5FA"/>
                </a:solidFill>
              </a:rPr>
              <a:t>- React 18 SPA Architecture: </a:t>
            </a:r>
            <a:r>
              <a:rPr sz="980">
                <a:solidFill>
                  <a:srgbClr val="CBD5E1"/>
                </a:solidFill>
              </a:rPr>
              <a:t>Built on React 18 leveraging Virtual DOM diffing for rapid UI updates. Transitions between dashboard, marking, and analytics occur instantly without browser reloads.</a:t>
            </a:r>
          </a:p>
          <a:p>
            <a:pPr>
              <a:spcAft>
                <a:spcPts val="700"/>
              </a:spcAft>
            </a:pPr>
            <a:r>
              <a:rPr b="1" sz="1050">
                <a:solidFill>
                  <a:srgbClr val="60A5FA"/>
                </a:solidFill>
              </a:rPr>
              <a:t>- Next-Gen Vite Build Tooling: </a:t>
            </a:r>
            <a:r>
              <a:rPr sz="980">
                <a:solidFill>
                  <a:srgbClr val="CBD5E1"/>
                </a:solidFill>
              </a:rPr>
              <a:t>Utilizes native browser ES Modules (ESM) during development, eliminating Webpack bundling overhead and delivering sub-second cold starts and instant Hot Module Replacement (HMR).</a:t>
            </a:r>
          </a:p>
          <a:p>
            <a:pPr>
              <a:spcAft>
                <a:spcPts val="700"/>
              </a:spcAft>
            </a:pPr>
            <a:r>
              <a:rPr b="1" sz="1050">
                <a:solidFill>
                  <a:srgbClr val="60A5FA"/>
                </a:solidFill>
              </a:rPr>
              <a:t>- Automated Axios Interceptor Pipeline: </a:t>
            </a:r>
            <a:r>
              <a:rPr sz="980">
                <a:solidFill>
                  <a:srgbClr val="CBD5E1"/>
                </a:solidFill>
              </a:rPr>
              <a:t>A centralized Axios request interceptor intercepts all outgoing HTTP calls, extracts the JWT token from localStorage, and injects the x-auth-token header automatically.</a:t>
            </a:r>
          </a:p>
          <a:p>
            <a:pPr>
              <a:spcAft>
                <a:spcPts val="700"/>
              </a:spcAft>
            </a:pPr>
            <a:r>
              <a:rPr b="1" sz="1050">
                <a:solidFill>
                  <a:srgbClr val="60A5FA"/>
                </a:solidFill>
              </a:rPr>
              <a:t>- Centralized Global State Management: </a:t>
            </a:r>
            <a:r>
              <a:rPr sz="980">
                <a:solidFill>
                  <a:srgbClr val="CBD5E1"/>
                </a:solidFill>
              </a:rPr>
              <a:t>React Context API (AuthContext) manages active user sessions, token persistence, and role state, preventing fragile prop-drilling across the component hierarchy.</a:t>
            </a:r>
          </a:p>
          <a:p>
            <a:pPr>
              <a:spcAft>
                <a:spcPts val="700"/>
              </a:spcAft>
            </a:pPr>
            <a:r>
              <a:rPr b="1" sz="1050">
                <a:solidFill>
                  <a:srgbClr val="60A5FA"/>
                </a:solidFill>
              </a:rPr>
              <a:t>- Tailwind CSS Design System: </a:t>
            </a:r>
            <a:r>
              <a:rPr sz="980">
                <a:solidFill>
                  <a:srgbClr val="CBD5E1"/>
                </a:solidFill>
              </a:rPr>
              <a:t>Clean dark slate navigation (#0F172A), frosted glass card elevation, rounded pill badges, and high-contrast Lucide SVG iconography.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3952" y="5760720"/>
            <a:ext cx="4700016" cy="384048"/>
          </a:xfrm>
          <a:prstGeom prst="roundRect">
            <a:avLst>
              <a:gd name="adj" fmla="val 12000"/>
            </a:avLst>
          </a:prstGeom>
          <a:solidFill>
            <a:srgbClr val="1C273A"/>
          </a:solidFill>
          <a:ln w="127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>
              <a:defRPr sz="880" b="1">
                <a:solidFill>
                  <a:srgbClr val="60A5FA"/>
                </a:solidFill>
              </a:defRPr>
            </a:pPr>
            <a:r>
              <a:t>PRODUCTION BUILD: Verified zero linter warnings and optimal production asset bundle size.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OPERATIONAL WALKTHROUGH &amp; VALIDATION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Live Demonstration Flow &amp; Automated System Verification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08415" y="384048"/>
            <a:ext cx="2651760" cy="365760"/>
          </a:xfrm>
          <a:prstGeom prst="roundRect">
            <a:avLst>
              <a:gd name="adj" fmla="val 25000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r>
              <a:t>SYSTEM VERIFICATION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293852"/>
          </a:solidFill>
          <a:ln>
            <a:solidFill>
              <a:srgbClr val="29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SAMS - Enterprise Student Attendance Management System   |   Abhishek VS (24BCE0404) &amp; Ayush Naugariya (24BDS0076)   |   Slot D2   |   Slide 09 of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212080" cy="2331720"/>
          </a:xfrm>
          <a:prstGeom prst="roundRect">
            <a:avLst>
              <a:gd name="adj" fmla="val 4000"/>
            </a:avLst>
          </a:prstGeom>
          <a:solidFill>
            <a:srgbClr val="151E2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47548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38BDF8"/>
                </a:solidFill>
              </a:rPr>
              <a:t>[o] </a:t>
            </a:r>
            <a:r>
              <a:rPr sz="1300" b="1">
                <a:solidFill>
                  <a:srgbClr val="FFFFFF"/>
                </a:solidFill>
              </a:rPr>
              <a:t>Phase 1: Identity &amp; Role Governance (0:00 - 1:00)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847088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000">
                <a:solidFill>
                  <a:srgbClr val="38BDF8"/>
                </a:solidFill>
              </a:rPr>
              <a:t>- Authentication: </a:t>
            </a:r>
            <a:r>
              <a:rPr sz="950">
                <a:solidFill>
                  <a:srgbClr val="CBD5E1"/>
                </a:solidFill>
              </a:rPr>
              <a:t>Log in as faculty@example.com with password123 via POST /api/auth/login.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38BDF8"/>
                </a:solidFill>
              </a:rPr>
              <a:t>- Token Verification: </a:t>
            </a:r>
            <a:r>
              <a:rPr sz="950">
                <a:solidFill>
                  <a:srgbClr val="CBD5E1"/>
                </a:solidFill>
              </a:rPr>
              <a:t>Show JWT issuance, stateless token storage in localStorage, and payload decoding.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38BDF8"/>
                </a:solidFill>
              </a:rPr>
              <a:t>- Student Scoping: </a:t>
            </a:r>
            <a:r>
              <a:rPr sz="950">
                <a:solidFill>
                  <a:srgbClr val="CBD5E1"/>
                </a:solidFill>
              </a:rPr>
              <a:t>Log in as student@example.com: 4th navigation ('Analytics &amp; Reports') is hidden and locked.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246119"/>
            <a:ext cx="4846320" cy="347472"/>
          </a:xfrm>
          <a:prstGeom prst="roundRect">
            <a:avLst>
              <a:gd name="adj" fmla="val 12000"/>
            </a:avLst>
          </a:prstGeom>
          <a:solidFill>
            <a:srgbClr val="1C273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>
              <a:defRPr sz="880" b="1">
                <a:solidFill>
                  <a:srgbClr val="38BDF8"/>
                </a:solidFill>
              </a:defRPr>
            </a:pPr>
            <a:r>
              <a:t>VERIFIED: User Authentication &amp; Role Scoping Protocols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212080" cy="2331720"/>
          </a:xfrm>
          <a:prstGeom prst="roundRect">
            <a:avLst>
              <a:gd name="adj" fmla="val 4000"/>
            </a:avLst>
          </a:prstGeom>
          <a:solidFill>
            <a:srgbClr val="151E2E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536192"/>
            <a:ext cx="47548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34D399"/>
                </a:solidFill>
              </a:rPr>
              <a:t>[o] </a:t>
            </a:r>
            <a:r>
              <a:rPr sz="1300" b="1">
                <a:solidFill>
                  <a:srgbClr val="FFFFFF"/>
                </a:solidFill>
              </a:rPr>
              <a:t>Phase 2: Attendance Ingestion (&lt;12ms) (1:00 - 2:30)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847088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000">
                <a:solidFill>
                  <a:srgbClr val="34D399"/>
                </a:solidFill>
              </a:rPr>
              <a:t>- Session Selection: </a:t>
            </a:r>
            <a:r>
              <a:rPr sz="950">
                <a:solidFill>
                  <a:srgbClr val="CBD5E1"/>
                </a:solidFill>
              </a:rPr>
              <a:t>Select Subject BCSE302P and calendar date; fetch 60 enrolled students.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34D399"/>
                </a:solidFill>
              </a:rPr>
              <a:t>- 1-Click Marking: </a:t>
            </a:r>
            <a:r>
              <a:rPr sz="950">
                <a:solidFill>
                  <a:srgbClr val="CBD5E1"/>
                </a:solidFill>
              </a:rPr>
              <a:t>Execute 'Mark All Present'; toggle specific students to 'Absent' with color pills.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34D399"/>
                </a:solidFill>
              </a:rPr>
              <a:t>- bulkWrite() Proof: </a:t>
            </a:r>
            <a:r>
              <a:rPr sz="950">
                <a:solidFill>
                  <a:srgbClr val="CBD5E1"/>
                </a:solidFill>
              </a:rPr>
              <a:t>Click 'Save Attendance'; demonstrate 60 records saved in &lt; 12ms via atomic batch upsert with zero reload.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3246119"/>
            <a:ext cx="4846320" cy="347472"/>
          </a:xfrm>
          <a:prstGeom prst="roundRect">
            <a:avLst>
              <a:gd name="adj" fmla="val 12000"/>
            </a:avLst>
          </a:prstGeom>
          <a:solidFill>
            <a:srgbClr val="1C273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>
              <a:defRPr sz="880" b="1">
                <a:solidFill>
                  <a:srgbClr val="34D399"/>
                </a:solidFill>
              </a:defRPr>
            </a:pPr>
            <a:r>
              <a:t>VERIFIED: High-Throughput bulkWrite() Upsert Protocol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77639"/>
            <a:ext cx="5212080" cy="2331720"/>
          </a:xfrm>
          <a:prstGeom prst="roundRect">
            <a:avLst>
              <a:gd name="adj" fmla="val 4000"/>
            </a:avLst>
          </a:prstGeom>
          <a:solidFill>
            <a:srgbClr val="151E2E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42231"/>
            <a:ext cx="47548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FBBF24"/>
                </a:solidFill>
              </a:rPr>
              <a:t>[o] </a:t>
            </a:r>
            <a:r>
              <a:rPr sz="1300" b="1">
                <a:solidFill>
                  <a:srgbClr val="FFFFFF"/>
                </a:solidFill>
              </a:rPr>
              <a:t>Phase 3: Real-Time Analytics &amp; Defaulters (2:30 - 3:45)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53127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000">
                <a:solidFill>
                  <a:srgbClr val="FBBF24"/>
                </a:solidFill>
              </a:rPr>
              <a:t>- Institutional KPIs: </a:t>
            </a:r>
            <a:r>
              <a:rPr sz="950">
                <a:solidFill>
                  <a:srgbClr val="CBD5E1"/>
                </a:solidFill>
              </a:rPr>
              <a:t>Open Analytics dashboard displaying 2,640+ primary records and overall percentage.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BBF24"/>
                </a:solidFill>
              </a:rPr>
              <a:t>- Defaulter Detection: </a:t>
            </a:r>
            <a:r>
              <a:rPr sz="950">
                <a:solidFill>
                  <a:srgbClr val="CBD5E1"/>
                </a:solidFill>
              </a:rPr>
              <a:t>Run Pipeline 1 with threshold slider at 75%; instantaneously display identified students.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FBBF24"/>
                </a:solidFill>
              </a:rPr>
              <a:t>- Trend Visualization: </a:t>
            </a:r>
            <a:r>
              <a:rPr sz="950">
                <a:solidFill>
                  <a:srgbClr val="CBD5E1"/>
                </a:solidFill>
              </a:rPr>
              <a:t>Inspect daily attendance timeline and Section 'D1' vs 'D2' comparative analytics.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5852158"/>
            <a:ext cx="4846320" cy="347472"/>
          </a:xfrm>
          <a:prstGeom prst="roundRect">
            <a:avLst>
              <a:gd name="adj" fmla="val 12000"/>
            </a:avLst>
          </a:prstGeom>
          <a:solidFill>
            <a:srgbClr val="1C273A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>
              <a:defRPr sz="880" b="1">
                <a:solidFill>
                  <a:srgbClr val="FBBF24"/>
                </a:solidFill>
              </a:defRPr>
            </a:pPr>
            <a:r>
              <a:t>VERIFIED: In-Engine Aggregation Pipelines &amp; Visual Analytics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977639"/>
            <a:ext cx="5212080" cy="2331720"/>
          </a:xfrm>
          <a:prstGeom prst="roundRect">
            <a:avLst>
              <a:gd name="adj" fmla="val 4000"/>
            </a:avLst>
          </a:prstGeom>
          <a:solidFill>
            <a:srgbClr val="151E2E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142231"/>
            <a:ext cx="47548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A855F7"/>
                </a:solidFill>
              </a:rPr>
              <a:t>[o] </a:t>
            </a:r>
            <a:r>
              <a:rPr sz="1300" b="1">
                <a:solidFill>
                  <a:srgbClr val="FFFFFF"/>
                </a:solidFill>
              </a:rPr>
              <a:t>Phase 4: 35 Automated Test Suite (3:45 - 5:00)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453127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000">
                <a:solidFill>
                  <a:srgbClr val="A855F7"/>
                </a:solidFill>
              </a:rPr>
              <a:t>- Test Runner: </a:t>
            </a:r>
            <a:r>
              <a:rPr sz="950">
                <a:solidFill>
                  <a:srgbClr val="CBD5E1"/>
                </a:solidFill>
              </a:rPr>
              <a:t>Execute node test_api.js directly in the integrated terminal.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855F7"/>
                </a:solidFill>
              </a:rPr>
              <a:t>- 35/35 Passing Tests: </a:t>
            </a:r>
            <a:r>
              <a:rPr sz="950">
                <a:solidFill>
                  <a:srgbClr val="CBD5E1"/>
                </a:solidFill>
              </a:rPr>
              <a:t>Demonstrate 100% green pass rate across Auth, CRUD on all 6 collections, and all 7 aggregations.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A855F7"/>
                </a:solidFill>
              </a:rPr>
              <a:t>- Access Control Test: </a:t>
            </a:r>
            <a:r>
              <a:rPr sz="950">
                <a:solidFill>
                  <a:srgbClr val="CBD5E1"/>
                </a:solidFill>
              </a:rPr>
              <a:t>Automated test asserts student calling /api/analytics returns HTTP 403 Forbidden.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5852158"/>
            <a:ext cx="4846320" cy="347472"/>
          </a:xfrm>
          <a:prstGeom prst="roundRect">
            <a:avLst>
              <a:gd name="adj" fmla="val 12000"/>
            </a:avLst>
          </a:prstGeom>
          <a:solidFill>
            <a:srgbClr val="1C273A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>
              <a:defRPr sz="880" b="1">
                <a:solidFill>
                  <a:srgbClr val="A855F7"/>
                </a:solidFill>
              </a:defRPr>
            </a:pPr>
            <a:r>
              <a:t>QUALITY ASSURANCE: 35 Automated Integration Tests (100% Pass Rate)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PROJECT SUMMARY &amp; FUTURE VISION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Key Project Accomplishments &amp; Scalability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08415" y="384048"/>
            <a:ext cx="2651760" cy="365760"/>
          </a:xfrm>
          <a:prstGeom prst="roundRect">
            <a:avLst>
              <a:gd name="adj" fmla="val 25000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r>
              <a:t>CONCLUSION &amp;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293852"/>
          </a:solidFill>
          <a:ln>
            <a:solidFill>
              <a:srgbClr val="29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SAMS - Enterprise Student Attendance Management System   |   Abhishek VS (24BCE0404) &amp; Ayush Naugariya (24BDS0076)   |   Slot D2   |   Slide 10 of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151E2E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47548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34D399"/>
                </a:solidFill>
              </a:rPr>
              <a:t>[o] </a:t>
            </a:r>
            <a:r>
              <a:rPr sz="1300" b="1">
                <a:solidFill>
                  <a:srgbClr val="FFFFFF"/>
                </a:solidFill>
              </a:rPr>
              <a:t>Core Engineering Accomplishments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1783080"/>
            <a:ext cx="4700016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000">
                <a:solidFill>
                  <a:srgbClr val="34D399"/>
                </a:solidFill>
              </a:rPr>
              <a:t>- Sub-12ms Ingestion Engine: </a:t>
            </a:r>
            <a:r>
              <a:rPr sz="950">
                <a:solidFill>
                  <a:srgbClr val="CBD5E1"/>
                </a:solidFill>
              </a:rPr>
              <a:t>Implemented atomic bulkWrite() operations, achieving sub-12ms writes for entire cohorts and eliminating database locking bottlenecks.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34D399"/>
                </a:solidFill>
              </a:rPr>
              <a:t>- Scalable Normalized Data Model: </a:t>
            </a:r>
            <a:r>
              <a:rPr sz="950">
                <a:solidFill>
                  <a:srgbClr val="CBD5E1"/>
                </a:solidFill>
              </a:rPr>
              <a:t>Solved the 16MB document boundary through referential BSON modeling, ensuring zero document relocation and infinite longitudinal growth.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34D399"/>
                </a:solidFill>
              </a:rPr>
              <a:t>- Empirical 71x Query Acceleration: </a:t>
            </a:r>
            <a:r>
              <a:rPr sz="950">
                <a:solidFill>
                  <a:srgbClr val="CBD5E1"/>
                </a:solidFill>
              </a:rPr>
              <a:t>Deployed ESR-compliant compound B-Tree indexes, reducing examined documents by 99.99% and accelerating query latency from 28.4ms to 0.4ms.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34D399"/>
                </a:solidFill>
              </a:rPr>
              <a:t>- Real-Time In-Engine Analytics: </a:t>
            </a:r>
            <a:r>
              <a:rPr sz="950">
                <a:solidFill>
                  <a:srgbClr val="CBD5E1"/>
                </a:solidFill>
              </a:rPr>
              <a:t>Built 7 native aggregation pipelines for proactive defaulter detection (&lt;75%), subject variance tracking, and cohort analytics in database RAM.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34D399"/>
                </a:solidFill>
              </a:rPr>
              <a:t>- 100% Test Automation Coverage: </a:t>
            </a:r>
            <a:r>
              <a:rPr sz="950">
                <a:solidFill>
                  <a:srgbClr val="CBD5E1"/>
                </a:solidFill>
              </a:rPr>
              <a:t>Engineered a 35-assertion automated test suite verifying identity, role scoping, atomic batch writes, and error handling.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7552" y="5029200"/>
            <a:ext cx="4700016" cy="347472"/>
          </a:xfrm>
          <a:prstGeom prst="roundRect">
            <a:avLst>
              <a:gd name="adj" fmla="val 12000"/>
            </a:avLst>
          </a:prstGeom>
          <a:solidFill>
            <a:srgbClr val="1C273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>
              <a:defRPr sz="880" b="1">
                <a:solidFill>
                  <a:srgbClr val="34D399"/>
                </a:solidFill>
              </a:defRPr>
            </a:pPr>
            <a:r>
              <a:t>SYSTEM HIGHLIGHT: Production-ready full-stack architecture with enterprise reliability.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151E2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536192"/>
            <a:ext cx="47548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38BDF8"/>
                </a:solidFill>
              </a:rPr>
              <a:t>[o] </a:t>
            </a:r>
            <a:r>
              <a:rPr sz="1300" b="1">
                <a:solidFill>
                  <a:srgbClr val="FFFFFF"/>
                </a:solidFill>
              </a:rPr>
              <a:t>Scalability &amp; Future Enhancements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783080"/>
            <a:ext cx="4700016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000">
                <a:solidFill>
                  <a:srgbClr val="38BDF8"/>
                </a:solidFill>
              </a:rPr>
              <a:t>- Redis In-Memory Caching Tier: </a:t>
            </a:r>
            <a:r>
              <a:rPr sz="950">
                <a:solidFill>
                  <a:srgbClr val="CBD5E1"/>
                </a:solidFill>
              </a:rPr>
              <a:t>Deploy Redis caching for read-heavy executive summary and KPI aggregations, reducing database queries by up to 80% during peak portal traffic.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38BDF8"/>
                </a:solidFill>
              </a:rPr>
              <a:t>- Horizontal Sharding Architecture: </a:t>
            </a:r>
            <a:r>
              <a:rPr sz="950">
                <a:solidFill>
                  <a:srgbClr val="CBD5E1"/>
                </a:solidFill>
              </a:rPr>
              <a:t>Implement MongoDB range or hashed sharding on { department: 1, studentId: 1 } across replica sets to seamlessly support millions of institutional records.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38BDF8"/>
                </a:solidFill>
              </a:rPr>
              <a:t>- Event-Driven Messaging &amp; Alerts: </a:t>
            </a:r>
            <a:r>
              <a:rPr sz="950">
                <a:solidFill>
                  <a:srgbClr val="CBD5E1"/>
                </a:solidFill>
              </a:rPr>
              <a:t>Integrate Apache Kafka and Twilio/SendGrid to trigger instantaneous SMS/email notifications to guardians when attendance drops below 75%.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38BDF8"/>
                </a:solidFill>
              </a:rPr>
              <a:t>- IoT &amp; Biometric Edge Ingestion: </a:t>
            </a:r>
            <a:r>
              <a:rPr sz="950">
                <a:solidFill>
                  <a:srgbClr val="CBD5E1"/>
                </a:solidFill>
              </a:rPr>
              <a:t>Interface REST ingestion endpoints with physical campus RFID readers and biometric scanners for automated classroom walk-in attendance tracking.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38BDF8"/>
                </a:solidFill>
              </a:rPr>
              <a:t>- AI-Driven Predictive Analytics: </a:t>
            </a:r>
            <a:r>
              <a:rPr sz="950">
                <a:solidFill>
                  <a:srgbClr val="CBD5E1"/>
                </a:solidFill>
              </a:rPr>
              <a:t>Implement machine learning models to forecast semester-end attendance outcomes and recommend early academic interventions.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3952" y="5029200"/>
            <a:ext cx="4700016" cy="347472"/>
          </a:xfrm>
          <a:prstGeom prst="roundRect">
            <a:avLst>
              <a:gd name="adj" fmla="val 12000"/>
            </a:avLst>
          </a:prstGeom>
          <a:solidFill>
            <a:srgbClr val="1C273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0" bIns="0"/>
          <a:lstStyle/>
          <a:p>
            <a:pPr algn="ctr">
              <a:defRPr sz="880" b="1">
                <a:solidFill>
                  <a:srgbClr val="38BDF8"/>
                </a:solidFill>
              </a:defRPr>
            </a:pPr>
            <a:r>
              <a:t>FUTURE VISION: Architectural roadmap to support campus-wide scale and IoT automation.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623560"/>
            <a:ext cx="10728655" cy="658368"/>
          </a:xfrm>
          <a:prstGeom prst="roundRect">
            <a:avLst>
              <a:gd name="adj" fmla="val 15000"/>
            </a:avLst>
          </a:prstGeom>
          <a:solidFill>
            <a:srgbClr val="151E2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7150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38BDF8"/>
                </a:solidFill>
              </a:defRPr>
            </a:pPr>
            <a:r>
              <a:t>PROJECT STATUS: PRODUCTION READY  |  6 COLLECTIONS  |  2,640+ RECORDS  |  7 AGGREGATIONS  |  6 B-TREES  |  35/35 TESTS PASSED (100%)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